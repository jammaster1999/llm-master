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class! Today we begin our unit on Equivalent Fractions. We'll explore why different fraction numbers can name the exact same amount using hands-on visual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Who ate more? Have students vote with thumbs up for Carlos, thumbs down for Maya, or sideways for a tie. Let volunteers share their thinking.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Carlos and Maya ate the exact same amount because both pan of brownies were identical in size. 1/2 and 2/4 are equivalent!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how the right edge of each shaded portion lines up perfectly. Point out the trade-off: twice as many pieces, but each piece is half as big.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slicing animation in their minds. When we cut horizontally, did we add any new blue paint? No! We only partitioned existing blue space.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to students that a number line shows fraction as a number with a specific value and position. If two fractions land on the same dot, they are 100% equivalent.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hold up fingers to indicate matches (e.g. 1 finger for A matches D, 2 fingers for B matches C). Call on students to explain how they knew.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analyze Model 2. Why can't we say Model 2 is 2/4? Because the parts are unequal! Fractions MUST have equal parts.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partners 3-4 minutes to draw models and discuss. Circulate and check for students recognizing that tenths are smaller pieces than fifths.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 index cards at the door. Key: Q1 is B (2/6). Q2: Model shows 4/8; explanation should note that the shaded amount is the same, only the number of pieces doubled.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4165495" y="6356350"/>
            <a:ext cx="3860703" cy="365125"/>
          </a:xfrm>
        </p:spPr>
        <p:txBody>
          <a:bodyPr/>
          <a:lstStyle/>
          <a:p>
            <a:endParaRPr lang="en-US"/>
          </a:p>
        </p:txBody>
      </p:sp>
      <p:sp>
        <p:nvSpPr>
          <p:cNvPr id="6" name="Slide Number Placeholder 5"/>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84" y="274638"/>
            <a:ext cx="10972525" cy="1143000"/>
          </a:xfrm>
        </p:spPr>
        <p:txBody>
          <a:bodyPr/>
          <a:lstStyle/>
          <a:p>
            <a:r>
              <a:rPr lang="en-US" smtClean="0"/>
              <a:t>Click to edit Master title style</a:t>
            </a:r>
            <a:endParaRPr lang="en-US"/>
          </a:p>
        </p:txBody>
      </p:sp>
      <p:sp>
        <p:nvSpPr>
          <p:cNvPr id="3" name="Content Placeholder 2"/>
          <p:cNvSpPr>
            <a:spLocks noGrp="1"/>
          </p:cNvSpPr>
          <p:nvPr>
            <p:ph idx="1"/>
          </p:nvPr>
        </p:nvSpPr>
        <p:spPr>
          <a:xfrm>
            <a:off x="609584" y="1600200"/>
            <a:ext cx="10972525"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4165495" y="6356350"/>
            <a:ext cx="3860703" cy="365125"/>
          </a:xfrm>
        </p:spPr>
        <p:txBody>
          <a:bodyPr/>
          <a:lstStyle/>
          <a:p>
            <a:endParaRPr lang="en-US"/>
          </a:p>
        </p:txBody>
      </p:sp>
      <p:sp>
        <p:nvSpPr>
          <p:cNvPr id="6" name="Slide Number Placeholder 5"/>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59" y="2906713"/>
            <a:ext cx="1036294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4165495" y="6356350"/>
            <a:ext cx="3860703" cy="365125"/>
          </a:xfrm>
        </p:spPr>
        <p:txBody>
          <a:bodyPr/>
          <a:lstStyle/>
          <a:p>
            <a:endParaRPr lang="en-US"/>
          </a:p>
        </p:txBody>
      </p:sp>
      <p:sp>
        <p:nvSpPr>
          <p:cNvPr id="6" name="Slide Number Placeholder 5"/>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84" y="274638"/>
            <a:ext cx="10972525"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4165495" y="6356350"/>
            <a:ext cx="3860703" cy="365125"/>
          </a:xfrm>
        </p:spPr>
        <p:txBody>
          <a:bodyPr/>
          <a:lstStyle/>
          <a:p>
            <a:endParaRPr lang="en-US"/>
          </a:p>
        </p:txBody>
      </p:sp>
      <p:sp>
        <p:nvSpPr>
          <p:cNvPr id="7" name="Slide Number Placeholder 6"/>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4638"/>
            <a:ext cx="10972525"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4" y="1535113"/>
            <a:ext cx="538678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4" y="2174875"/>
            <a:ext cx="538678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1" y="1535113"/>
            <a:ext cx="53888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1" y="2174875"/>
            <a:ext cx="53888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4165495" y="6356350"/>
            <a:ext cx="3860703" cy="365125"/>
          </a:xfrm>
        </p:spPr>
        <p:txBody>
          <a:bodyPr/>
          <a:lstStyle/>
          <a:p>
            <a:endParaRPr lang="en-US"/>
          </a:p>
        </p:txBody>
      </p:sp>
      <p:sp>
        <p:nvSpPr>
          <p:cNvPr id="9" name="Slide Number Placeholder 8"/>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84" y="274638"/>
            <a:ext cx="10972525" cy="114300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4165495" y="6356350"/>
            <a:ext cx="3860703" cy="365125"/>
          </a:xfrm>
        </p:spPr>
        <p:txBody>
          <a:bodyPr/>
          <a:lstStyle/>
          <a:p>
            <a:endParaRPr lang="en-US"/>
          </a:p>
        </p:txBody>
      </p:sp>
      <p:sp>
        <p:nvSpPr>
          <p:cNvPr id="5" name="Slide Number Placeholder 4"/>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4165495" y="6356350"/>
            <a:ext cx="3860703" cy="365125"/>
          </a:xfrm>
        </p:spPr>
        <p:txBody>
          <a:bodyPr/>
          <a:lstStyle/>
          <a:p>
            <a:endParaRPr lang="en-US"/>
          </a:p>
        </p:txBody>
      </p:sp>
      <p:sp>
        <p:nvSpPr>
          <p:cNvPr id="4" name="Slide Number Placeholder 3"/>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4" y="1435100"/>
            <a:ext cx="40109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4165495" y="6356350"/>
            <a:ext cx="3860703" cy="365125"/>
          </a:xfrm>
        </p:spPr>
        <p:txBody>
          <a:bodyPr/>
          <a:lstStyle/>
          <a:p>
            <a:endParaRPr lang="en-US"/>
          </a:p>
        </p:txBody>
      </p:sp>
      <p:sp>
        <p:nvSpPr>
          <p:cNvPr id="7" name="Slide Number Placeholder 6"/>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6"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7" y="612775"/>
            <a:ext cx="7315016"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6"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4165495" y="6356350"/>
            <a:ext cx="3860703" cy="365125"/>
          </a:xfrm>
        </p:spPr>
        <p:txBody>
          <a:bodyPr/>
          <a:lstStyle/>
          <a:p>
            <a:endParaRPr lang="en-US"/>
          </a:p>
        </p:txBody>
      </p:sp>
      <p:sp>
        <p:nvSpPr>
          <p:cNvPr id="7" name="Slide Number Placeholder 6"/>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584" y="274638"/>
            <a:ext cx="10972525" cy="114300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1600200"/>
            <a:ext cx="10972525" cy="45259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4165495" y="6356350"/>
            <a:ext cx="3860703" cy="365125"/>
          </a:xfrm>
        </p:spPr>
        <p:txBody>
          <a:bodyPr/>
          <a:lstStyle/>
          <a:p>
            <a:endParaRPr lang="en-US"/>
          </a:p>
        </p:txBody>
      </p:sp>
      <p:sp>
        <p:nvSpPr>
          <p:cNvPr id="6" name="Slide Number Placeholder 5"/>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8"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4165495" y="6356350"/>
            <a:ext cx="3860703" cy="365125"/>
          </a:xfrm>
        </p:spPr>
        <p:txBody>
          <a:bodyPr/>
          <a:lstStyle/>
          <a:p>
            <a:endParaRPr lang="en-US"/>
          </a:p>
        </p:txBody>
      </p:sp>
      <p:sp>
        <p:nvSpPr>
          <p:cNvPr id="6" name="Slide Number Placeholder 5"/>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2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94A"/>
        </a:solidFill>
        <a:effectLst/>
      </p:bgPr>
    </p:bg>
    <p:spTree>
      <p:nvGrpSpPr>
        <p:cNvPr id="1" name=""/>
        <p:cNvGrpSpPr/>
        <p:nvPr/>
      </p:nvGrpSpPr>
      <p:grpSpPr/>
      <p:sp>
        <p:nvSpPr>
          <p:cNvPr id="2" name="Title 1"/>
          <p:cNvSpPr>
            <a:spLocks noGrp="1"/>
          </p:cNvSpPr>
          <p:nvPr>
            <p:ph type="title"/>
          </p:nvPr>
        </p:nvSpPr>
        <p:spPr>
          <a:xfrm>
            <a:off x="731520" y="1645920"/>
            <a:ext cx="10698480" cy="1280160"/>
          </a:xfrm>
        </p:spPr>
        <p:txBody>
          <a:bodyPr wrap="square" anchor="ctr">
            <a:noAutofit/>
          </a:bodyPr>
          <a:lstStyle/>
          <a:p>
            <a:pPr algn="l"/>
            <a:r>
              <a:rPr sz="4800" b="1" i="0">
                <a:solidFill>
                  <a:srgbClr val="FFFFFF"/>
                </a:solidFill>
                <a:latin typeface="Calibri"/>
              </a:rPr>
              <a:t>Understanding Equivalent Fractions</a:t>
            </a:r>
          </a:p>
        </p:txBody>
      </p:sp>
      <p:sp>
        <p:nvSpPr>
          <p:cNvPr id="3" name="TextBox 2"/>
          <p:cNvSpPr txBox="1"/>
          <p:nvPr/>
        </p:nvSpPr>
        <p:spPr>
          <a:xfrm>
            <a:off x="731520" y="2926080"/>
            <a:ext cx="10698480" cy="731520"/>
          </a:xfrm>
          <a:prstGeom prst="rect">
            <a:avLst/>
          </a:prstGeom>
          <a:noFill/>
        </p:spPr>
        <p:txBody>
          <a:bodyPr wrap="square" anchor="t">
            <a:noAutofit/>
          </a:bodyPr>
          <a:lstStyle/>
          <a:p>
            <a:pPr algn="l"/>
            <a:r>
              <a:rPr sz="2600" b="0" i="0">
                <a:solidFill>
                  <a:srgbClr val="93C5FD"/>
                </a:solidFill>
                <a:latin typeface="Calibri"/>
              </a:rPr>
              <a:t>Visual Models, Equal Parts, and Same-Size Wholes</a:t>
            </a:r>
          </a:p>
        </p:txBody>
      </p:sp>
      <p:sp>
        <p:nvSpPr>
          <p:cNvPr id="4" name="Rectangle 3"/>
          <p:cNvSpPr/>
          <p:nvPr/>
        </p:nvSpPr>
        <p:spPr>
          <a:xfrm>
            <a:off x="731520" y="3931920"/>
            <a:ext cx="2926080" cy="73152"/>
          </a:xfrm>
          <a:prstGeom prst="rect">
            <a:avLst/>
          </a:prstGeom>
          <a:solidFill>
            <a:srgbClr val="D97706"/>
          </a:solidFill>
          <a:ln>
            <a:noFill/>
          </a:ln>
        </p:spPr>
        <p:txBody>
          <a:bodyPr rtlCol="0" anchor="ctr"/>
          <a:lstStyle/>
          <a:p>
            <a:pPr algn="ctr"/>
          </a:p>
        </p:txBody>
      </p:sp>
      <p:sp>
        <p:nvSpPr>
          <p:cNvPr id="5" name="TextBox 4"/>
          <p:cNvSpPr txBox="1"/>
          <p:nvPr/>
        </p:nvSpPr>
        <p:spPr>
          <a:xfrm>
            <a:off x="731520" y="4206240"/>
            <a:ext cx="10698480" cy="548640"/>
          </a:xfrm>
          <a:prstGeom prst="rect">
            <a:avLst/>
          </a:prstGeom>
          <a:noFill/>
        </p:spPr>
        <p:txBody>
          <a:bodyPr wrap="square" anchor="t">
            <a:noAutofit/>
          </a:bodyPr>
          <a:lstStyle/>
          <a:p>
            <a:pPr algn="l"/>
            <a:r>
              <a:rPr sz="2000" b="0" i="0">
                <a:solidFill>
                  <a:srgbClr val="E0E7FF"/>
                </a:solidFill>
                <a:latin typeface="Calibri"/>
              </a:rPr>
              <a:t>Grade 4 Mathematics · Unit: Fraction Equivalence · Lesson 1 of 3</a:t>
            </a:r>
          </a:p>
        </p:txBody>
      </p:sp>
      <p:sp>
        <p:nvSpPr>
          <p:cNvPr id="6" name="Rectangle 5"/>
          <p:cNvSpPr/>
          <p:nvPr/>
        </p:nvSpPr>
        <p:spPr>
          <a:xfrm>
            <a:off x="731520" y="5120640"/>
            <a:ext cx="3200400" cy="594360"/>
          </a:xfrm>
          <a:prstGeom prst="rect">
            <a:avLst/>
          </a:prstGeom>
          <a:solidFill>
            <a:srgbClr val="1E3A8A"/>
          </a:solidFill>
          <a:ln w="25400">
            <a:solidFill>
              <a:srgbClr val="93C5FD"/>
            </a:solidFill>
          </a:ln>
        </p:spPr>
        <p:txBody>
          <a:bodyPr rtlCol="0" anchor="ctr"/>
          <a:lstStyle/>
          <a:p>
            <a:pPr algn="ctr"/>
          </a:p>
        </p:txBody>
      </p:sp>
      <p:sp>
        <p:nvSpPr>
          <p:cNvPr id="7" name="Rectangle 6"/>
          <p:cNvSpPr/>
          <p:nvPr/>
        </p:nvSpPr>
        <p:spPr>
          <a:xfrm>
            <a:off x="731520" y="5120640"/>
            <a:ext cx="1600200" cy="594360"/>
          </a:xfrm>
          <a:prstGeom prst="rect">
            <a:avLst/>
          </a:prstGeom>
          <a:solidFill>
            <a:srgbClr val="1D4ED8"/>
          </a:solidFill>
          <a:ln w="25400">
            <a:solidFill>
              <a:srgbClr val="93C5FD"/>
            </a:solidFill>
          </a:ln>
        </p:spPr>
        <p:txBody>
          <a:bodyPr rtlCol="0" anchor="ctr"/>
          <a:lstStyle/>
          <a:p>
            <a:pPr algn="ctr"/>
          </a:p>
        </p:txBody>
      </p:sp>
      <p:cxnSp>
        <p:nvCxnSpPr>
          <p:cNvPr id="8" name="Connector 7"/>
          <p:cNvCxnSpPr/>
          <p:nvPr/>
        </p:nvCxnSpPr>
        <p:spPr>
          <a:xfrm>
            <a:off x="2331720" y="5120640"/>
            <a:ext cx="0" cy="594360"/>
          </a:xfrm>
          <a:prstGeom prst="line">
            <a:avLst/>
          </a:prstGeom>
          <a:ln w="19050">
            <a:solidFill>
              <a:srgbClr val="93C5F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069080" y="5120640"/>
            <a:ext cx="1645920" cy="594360"/>
          </a:xfrm>
          <a:prstGeom prst="rect">
            <a:avLst/>
          </a:prstGeom>
          <a:noFill/>
        </p:spPr>
        <p:txBody>
          <a:bodyPr wrap="square" anchor="ctr">
            <a:noAutofit/>
          </a:bodyPr>
          <a:lstStyle/>
          <a:p>
            <a:pPr algn="l"/>
            <a:r>
              <a:rPr sz="2000" b="1" i="0">
                <a:solidFill>
                  <a:srgbClr val="1F2937"/>
                </a:solidFill>
                <a:latin typeface="Calibri"/>
              </a:rPr>
              <a:t>1/2</a:t>
            </a:r>
          </a:p>
        </p:txBody>
      </p:sp>
      <p:sp>
        <p:nvSpPr>
          <p:cNvPr id="10" name="Rectangle 9"/>
          <p:cNvSpPr/>
          <p:nvPr/>
        </p:nvSpPr>
        <p:spPr>
          <a:xfrm>
            <a:off x="4754880" y="5120640"/>
            <a:ext cx="3200400" cy="594360"/>
          </a:xfrm>
          <a:prstGeom prst="rect">
            <a:avLst/>
          </a:prstGeom>
          <a:solidFill>
            <a:srgbClr val="1E3A8A"/>
          </a:solidFill>
          <a:ln w="25400">
            <a:solidFill>
              <a:srgbClr val="93C5FD"/>
            </a:solidFill>
          </a:ln>
        </p:spPr>
        <p:txBody>
          <a:bodyPr rtlCol="0" anchor="ctr"/>
          <a:lstStyle/>
          <a:p>
            <a:pPr algn="ctr"/>
          </a:p>
        </p:txBody>
      </p:sp>
      <p:sp>
        <p:nvSpPr>
          <p:cNvPr id="11" name="Rectangle 10"/>
          <p:cNvSpPr/>
          <p:nvPr/>
        </p:nvSpPr>
        <p:spPr>
          <a:xfrm>
            <a:off x="4754880" y="5120640"/>
            <a:ext cx="1600200" cy="594360"/>
          </a:xfrm>
          <a:prstGeom prst="rect">
            <a:avLst/>
          </a:prstGeom>
          <a:solidFill>
            <a:srgbClr val="1D4ED8"/>
          </a:solidFill>
          <a:ln w="25400">
            <a:solidFill>
              <a:srgbClr val="93C5FD"/>
            </a:solidFill>
          </a:ln>
        </p:spPr>
        <p:txBody>
          <a:bodyPr rtlCol="0" anchor="ctr"/>
          <a:lstStyle/>
          <a:p>
            <a:pPr algn="ctr"/>
          </a:p>
        </p:txBody>
      </p:sp>
      <p:cxnSp>
        <p:nvCxnSpPr>
          <p:cNvPr id="12" name="Connector 11"/>
          <p:cNvCxnSpPr/>
          <p:nvPr/>
        </p:nvCxnSpPr>
        <p:spPr>
          <a:xfrm>
            <a:off x="5554980" y="5120640"/>
            <a:ext cx="0" cy="594360"/>
          </a:xfrm>
          <a:prstGeom prst="line">
            <a:avLst/>
          </a:prstGeom>
          <a:ln w="19050">
            <a:solidFill>
              <a:srgbClr val="93C5F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355080" y="5120640"/>
            <a:ext cx="0" cy="594360"/>
          </a:xfrm>
          <a:prstGeom prst="line">
            <a:avLst/>
          </a:prstGeom>
          <a:ln w="19050">
            <a:solidFill>
              <a:srgbClr val="93C5F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155180" y="5120640"/>
            <a:ext cx="0" cy="594360"/>
          </a:xfrm>
          <a:prstGeom prst="line">
            <a:avLst/>
          </a:prstGeom>
          <a:ln w="19050">
            <a:solidFill>
              <a:srgbClr val="93C5FD"/>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092440" y="5120640"/>
            <a:ext cx="1645920" cy="594360"/>
          </a:xfrm>
          <a:prstGeom prst="rect">
            <a:avLst/>
          </a:prstGeom>
          <a:noFill/>
        </p:spPr>
        <p:txBody>
          <a:bodyPr wrap="square" anchor="ctr">
            <a:noAutofit/>
          </a:bodyPr>
          <a:lstStyle/>
          <a:p>
            <a:pPr algn="l"/>
            <a:r>
              <a:rPr sz="2000" b="1" i="0">
                <a:solidFill>
                  <a:srgbClr val="1F2937"/>
                </a:solidFill>
                <a:latin typeface="Calibri"/>
              </a:rPr>
              <a:t>2/4</a:t>
            </a:r>
          </a:p>
        </p:txBody>
      </p:sp>
      <p:sp>
        <p:nvSpPr>
          <p:cNvPr id="16" name="Rectangle 15"/>
          <p:cNvSpPr/>
          <p:nvPr/>
        </p:nvSpPr>
        <p:spPr>
          <a:xfrm>
            <a:off x="8778240" y="5120640"/>
            <a:ext cx="2926080" cy="594360"/>
          </a:xfrm>
          <a:prstGeom prst="rect">
            <a:avLst/>
          </a:prstGeom>
          <a:solidFill>
            <a:srgbClr val="1E3A8A"/>
          </a:solidFill>
          <a:ln w="25400">
            <a:solidFill>
              <a:srgbClr val="93C5FD"/>
            </a:solidFill>
          </a:ln>
        </p:spPr>
        <p:txBody>
          <a:bodyPr rtlCol="0" anchor="ctr"/>
          <a:lstStyle/>
          <a:p>
            <a:pPr algn="ctr"/>
          </a:p>
        </p:txBody>
      </p:sp>
      <p:sp>
        <p:nvSpPr>
          <p:cNvPr id="17" name="Rectangle 16"/>
          <p:cNvSpPr/>
          <p:nvPr/>
        </p:nvSpPr>
        <p:spPr>
          <a:xfrm>
            <a:off x="8778240" y="5120640"/>
            <a:ext cx="1463040" cy="594360"/>
          </a:xfrm>
          <a:prstGeom prst="rect">
            <a:avLst/>
          </a:prstGeom>
          <a:solidFill>
            <a:srgbClr val="1D4ED8"/>
          </a:solidFill>
          <a:ln w="25400">
            <a:solidFill>
              <a:srgbClr val="93C5FD"/>
            </a:solidFill>
          </a:ln>
        </p:spPr>
        <p:txBody>
          <a:bodyPr rtlCol="0" anchor="ctr"/>
          <a:lstStyle/>
          <a:p>
            <a:pPr algn="ctr"/>
          </a:p>
        </p:txBody>
      </p:sp>
      <p:cxnSp>
        <p:nvCxnSpPr>
          <p:cNvPr id="18" name="Connector 17"/>
          <p:cNvCxnSpPr/>
          <p:nvPr/>
        </p:nvCxnSpPr>
        <p:spPr>
          <a:xfrm>
            <a:off x="9144000" y="5120640"/>
            <a:ext cx="0" cy="594360"/>
          </a:xfrm>
          <a:prstGeom prst="line">
            <a:avLst/>
          </a:prstGeom>
          <a:ln w="19050">
            <a:solidFill>
              <a:srgbClr val="93C5F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509760" y="5120640"/>
            <a:ext cx="0" cy="594360"/>
          </a:xfrm>
          <a:prstGeom prst="line">
            <a:avLst/>
          </a:prstGeom>
          <a:ln w="19050">
            <a:solidFill>
              <a:srgbClr val="93C5F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875520" y="5120640"/>
            <a:ext cx="0" cy="594360"/>
          </a:xfrm>
          <a:prstGeom prst="line">
            <a:avLst/>
          </a:prstGeom>
          <a:ln w="19050">
            <a:solidFill>
              <a:srgbClr val="93C5F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241280" y="5120640"/>
            <a:ext cx="0" cy="594360"/>
          </a:xfrm>
          <a:prstGeom prst="line">
            <a:avLst/>
          </a:prstGeom>
          <a:ln w="19050">
            <a:solidFill>
              <a:srgbClr val="93C5F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607040" y="5120640"/>
            <a:ext cx="0" cy="594360"/>
          </a:xfrm>
          <a:prstGeom prst="line">
            <a:avLst/>
          </a:prstGeom>
          <a:ln w="19050">
            <a:solidFill>
              <a:srgbClr val="93C5F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972800" y="5120640"/>
            <a:ext cx="0" cy="594360"/>
          </a:xfrm>
          <a:prstGeom prst="line">
            <a:avLst/>
          </a:prstGeom>
          <a:ln w="19050">
            <a:solidFill>
              <a:srgbClr val="93C5F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338560" y="5120640"/>
            <a:ext cx="0" cy="594360"/>
          </a:xfrm>
          <a:prstGeom prst="line">
            <a:avLst/>
          </a:prstGeom>
          <a:ln w="19050">
            <a:solidFill>
              <a:srgbClr val="93C5F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841480" y="5120640"/>
            <a:ext cx="1645920" cy="594360"/>
          </a:xfrm>
          <a:prstGeom prst="rect">
            <a:avLst/>
          </a:prstGeom>
          <a:noFill/>
        </p:spPr>
        <p:txBody>
          <a:bodyPr wrap="square" anchor="ctr">
            <a:noAutofit/>
          </a:bodyPr>
          <a:lstStyle/>
          <a:p>
            <a:pPr algn="l"/>
            <a:r>
              <a:rPr sz="2000" b="1" i="0">
                <a:solidFill>
                  <a:srgbClr val="1F2937"/>
                </a:solidFill>
                <a:latin typeface="Calibri"/>
              </a:rPr>
              <a:t>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365760"/>
            <a:ext cx="10698480" cy="731520"/>
          </a:xfrm>
        </p:spPr>
        <p:txBody>
          <a:bodyPr wrap="square" anchor="ctr">
            <a:noAutofit/>
          </a:bodyPr>
          <a:lstStyle/>
          <a:p>
            <a:pPr algn="l"/>
            <a:r>
              <a:rPr sz="3600" b="1" i="0">
                <a:solidFill>
                  <a:srgbClr val="1F2937"/>
                </a:solidFill>
                <a:latin typeface="Calibri"/>
              </a:rPr>
              <a:t>Learning Goal &amp; The Brownie Dilemma</a:t>
            </a:r>
          </a:p>
        </p:txBody>
      </p:sp>
      <p:sp>
        <p:nvSpPr>
          <p:cNvPr id="3" name="Rounded Rectangle 2"/>
          <p:cNvSpPr/>
          <p:nvPr/>
        </p:nvSpPr>
        <p:spPr>
          <a:xfrm>
            <a:off x="731520" y="1188720"/>
            <a:ext cx="2926080" cy="502920"/>
          </a:xfrm>
          <a:prstGeom prst="roundRect">
            <a:avLst>
              <a:gd name="adj" fmla="val 50000"/>
            </a:avLst>
          </a:prstGeom>
          <a:solidFill>
            <a:srgbClr val="D97706"/>
          </a:solidFill>
          <a:ln>
            <a:noFill/>
          </a:ln>
        </p:spPr>
        <p:txBody>
          <a:bodyPr rtlCol="0" anchor="ctr" wrap="square">
            <a:noAutofit/>
          </a:bodyPr>
          <a:lstStyle/>
          <a:p>
            <a:pPr algn="ctr"/>
            <a:r>
              <a:rPr sz="1800" b="1" i="0">
                <a:solidFill>
                  <a:srgbClr val="FFFFFF"/>
                </a:solidFill>
                <a:latin typeface="Calibri"/>
              </a:rPr>
              <a:t>LESSON HOOK</a:t>
            </a:r>
          </a:p>
        </p:txBody>
      </p:sp>
      <p:sp>
        <p:nvSpPr>
          <p:cNvPr id="4" name="Rounded Rectangle 3"/>
          <p:cNvSpPr/>
          <p:nvPr/>
        </p:nvSpPr>
        <p:spPr>
          <a:xfrm>
            <a:off x="731520" y="1737360"/>
            <a:ext cx="4754880" cy="4389120"/>
          </a:xfrm>
          <a:prstGeom prst="roundRect">
            <a:avLst>
              <a:gd name="adj" fmla="val 8000"/>
            </a:avLst>
          </a:prstGeom>
          <a:solidFill>
            <a:srgbClr val="EFF6FF"/>
          </a:solidFill>
          <a:ln w="19050">
            <a:solidFill>
              <a:srgbClr val="BFDBFE"/>
            </a:solidFill>
          </a:ln>
        </p:spPr>
        <p:txBody>
          <a:bodyPr rtlCol="0" anchor="ctr"/>
          <a:lstStyle/>
          <a:p>
            <a:pPr algn="ctr"/>
          </a:p>
        </p:txBody>
      </p:sp>
      <p:sp>
        <p:nvSpPr>
          <p:cNvPr id="5" name="TextBox 4"/>
          <p:cNvSpPr txBox="1"/>
          <p:nvPr/>
        </p:nvSpPr>
        <p:spPr>
          <a:xfrm>
            <a:off x="1005840" y="1920240"/>
            <a:ext cx="4206240" cy="457200"/>
          </a:xfrm>
          <a:prstGeom prst="rect">
            <a:avLst/>
          </a:prstGeom>
          <a:noFill/>
        </p:spPr>
        <p:txBody>
          <a:bodyPr wrap="square" anchor="t">
            <a:noAutofit/>
          </a:bodyPr>
          <a:lstStyle/>
          <a:p>
            <a:pPr algn="l"/>
            <a:r>
              <a:rPr sz="2400" b="1" i="0">
                <a:solidFill>
                  <a:srgbClr val="1D4ED8"/>
                </a:solidFill>
                <a:latin typeface="Calibri"/>
              </a:rPr>
              <a:t>🎯 Today's Target</a:t>
            </a:r>
          </a:p>
        </p:txBody>
      </p:sp>
      <p:sp>
        <p:nvSpPr>
          <p:cNvPr id="6" name="TextBox 5"/>
          <p:cNvSpPr txBox="1"/>
          <p:nvPr/>
        </p:nvSpPr>
        <p:spPr>
          <a:xfrm>
            <a:off x="1005840" y="2468880"/>
            <a:ext cx="4206240" cy="2011680"/>
          </a:xfrm>
          <a:prstGeom prst="rect">
            <a:avLst/>
          </a:prstGeom>
          <a:noFill/>
        </p:spPr>
        <p:txBody>
          <a:bodyPr wrap="square" anchor="t">
            <a:noAutofit/>
          </a:bodyPr>
          <a:lstStyle/>
          <a:p>
            <a:pPr algn="l" marL="304800" indent="-304800">
              <a:spcAft>
                <a:spcPts val="800"/>
              </a:spcAft>
              <a:buFont typeface="Arial"/>
              <a:buChar char="•"/>
            </a:pPr>
            <a:r>
              <a:rPr sz="2000" b="0" i="0">
                <a:solidFill>
                  <a:srgbClr val="1F2937"/>
                </a:solidFill>
                <a:latin typeface="Calibri"/>
              </a:rPr>
              <a:t>I can explain what makes two fractions </a:t>
            </a:r>
            <a:r>
              <a:rPr sz="2000" b="1" i="0">
                <a:solidFill>
                  <a:srgbClr val="1F2937"/>
                </a:solidFill>
                <a:latin typeface="Calibri"/>
              </a:rPr>
              <a:t>equivalent</a:t>
            </a:r>
            <a:r>
              <a:rPr sz="2000" b="0" i="0">
                <a:solidFill>
                  <a:srgbClr val="1F2937"/>
                </a:solidFill>
                <a:latin typeface="Calibri"/>
              </a:rPr>
              <a:t> using visual models.</a:t>
            </a:r>
          </a:p>
          <a:p>
            <a:pPr algn="l" marL="304800" indent="-304800">
              <a:spcAft>
                <a:spcPts val="800"/>
              </a:spcAft>
              <a:buFont typeface="Arial"/>
              <a:buChar char="•"/>
            </a:pPr>
            <a:r>
              <a:rPr sz="2000" b="0" i="0">
                <a:solidFill>
                  <a:srgbClr val="1F2937"/>
                </a:solidFill>
                <a:latin typeface="Calibri"/>
              </a:rPr>
              <a:t>I can model equivalence with fraction strips, area grids, and number lines [1].</a:t>
            </a:r>
          </a:p>
          <a:p>
            <a:pPr algn="l" marL="304800" indent="-304800">
              <a:buFont typeface="Arial"/>
              <a:buChar char="•"/>
            </a:pPr>
            <a:r>
              <a:rPr sz="2000" b="0" i="0">
                <a:solidFill>
                  <a:srgbClr val="1F2937"/>
                </a:solidFill>
                <a:latin typeface="Calibri"/>
              </a:rPr>
              <a:t>I can prove that equal amounts can have different numbers of parts [6].</a:t>
            </a:r>
          </a:p>
        </p:txBody>
      </p:sp>
      <p:sp>
        <p:nvSpPr>
          <p:cNvPr id="7" name="Rounded Rectangle 6"/>
          <p:cNvSpPr/>
          <p:nvPr/>
        </p:nvSpPr>
        <p:spPr>
          <a:xfrm>
            <a:off x="1005840" y="4754880"/>
            <a:ext cx="4206240" cy="1097280"/>
          </a:xfrm>
          <a:prstGeom prst="roundRect">
            <a:avLst>
              <a:gd name="adj" fmla="val 10000"/>
            </a:avLst>
          </a:prstGeom>
          <a:solidFill>
            <a:srgbClr val="FFFFFF"/>
          </a:solidFill>
          <a:ln w="19050">
            <a:solidFill>
              <a:srgbClr val="BFDBFE"/>
            </a:solidFill>
          </a:ln>
        </p:spPr>
        <p:txBody>
          <a:bodyPr rtlCol="0" anchor="ctr" wrap="square">
            <a:noAutofit/>
          </a:bodyPr>
          <a:lstStyle/>
          <a:p>
            <a:pPr algn="ctr">
              <a:spcAft>
                <a:spcPts val="500"/>
              </a:spcAft>
            </a:pPr>
            <a:r>
              <a:rPr sz="1800" b="0" i="0">
                <a:solidFill>
                  <a:srgbClr val="0F294A"/>
                </a:solidFill>
                <a:latin typeface="Calibri"/>
              </a:rPr>
              <a:t>Standard: </a:t>
            </a:r>
            <a:r>
              <a:rPr sz="1800" b="1" i="0">
                <a:solidFill>
                  <a:srgbClr val="0F294A"/>
                </a:solidFill>
                <a:latin typeface="Calibri"/>
              </a:rPr>
              <a:t>CCSS.MATH.4.NF.A.1</a:t>
            </a:r>
          </a:p>
          <a:p>
            <a:pPr algn="ctr"/>
            <a:r>
              <a:rPr sz="1800" b="0" i="0">
                <a:solidFill>
                  <a:srgbClr val="0F294A"/>
                </a:solidFill>
                <a:latin typeface="Calibri"/>
              </a:rPr>
              <a:t>Explain fraction equivalence with visual models</a:t>
            </a:r>
          </a:p>
        </p:txBody>
      </p:sp>
      <p:sp>
        <p:nvSpPr>
          <p:cNvPr id="8" name="Rounded Rectangle 7"/>
          <p:cNvSpPr/>
          <p:nvPr/>
        </p:nvSpPr>
        <p:spPr>
          <a:xfrm>
            <a:off x="5852160" y="1737360"/>
            <a:ext cx="5577840" cy="4389120"/>
          </a:xfrm>
          <a:prstGeom prst="roundRect">
            <a:avLst>
              <a:gd name="adj" fmla="val 8000"/>
            </a:avLst>
          </a:prstGeom>
          <a:solidFill>
            <a:srgbClr val="FEF3C7"/>
          </a:solidFill>
          <a:ln w="19050">
            <a:solidFill>
              <a:srgbClr val="FDE68A"/>
            </a:solidFill>
          </a:ln>
        </p:spPr>
        <p:txBody>
          <a:bodyPr rtlCol="0" anchor="ctr"/>
          <a:lstStyle/>
          <a:p>
            <a:pPr algn="ctr"/>
          </a:p>
        </p:txBody>
      </p:sp>
      <p:sp>
        <p:nvSpPr>
          <p:cNvPr id="9" name="TextBox 8"/>
          <p:cNvSpPr txBox="1"/>
          <p:nvPr/>
        </p:nvSpPr>
        <p:spPr>
          <a:xfrm>
            <a:off x="6126480" y="1920240"/>
            <a:ext cx="5029200" cy="457200"/>
          </a:xfrm>
          <a:prstGeom prst="rect">
            <a:avLst/>
          </a:prstGeom>
          <a:noFill/>
        </p:spPr>
        <p:txBody>
          <a:bodyPr wrap="square" anchor="t">
            <a:noAutofit/>
          </a:bodyPr>
          <a:lstStyle/>
          <a:p>
            <a:pPr algn="l"/>
            <a:r>
              <a:rPr sz="2400" b="1" i="0">
                <a:solidFill>
                  <a:srgbClr val="D97706"/>
                </a:solidFill>
                <a:latin typeface="Calibri"/>
              </a:rPr>
              <a:t>🍫 The Brownie Dilemma</a:t>
            </a:r>
          </a:p>
        </p:txBody>
      </p:sp>
      <p:sp>
        <p:nvSpPr>
          <p:cNvPr id="10" name="TextBox 9"/>
          <p:cNvSpPr txBox="1"/>
          <p:nvPr/>
        </p:nvSpPr>
        <p:spPr>
          <a:xfrm>
            <a:off x="6126480" y="2468880"/>
            <a:ext cx="5029200" cy="1280160"/>
          </a:xfrm>
          <a:prstGeom prst="rect">
            <a:avLst/>
          </a:prstGeom>
          <a:noFill/>
        </p:spPr>
        <p:txBody>
          <a:bodyPr wrap="square" anchor="t">
            <a:noAutofit/>
          </a:bodyPr>
          <a:lstStyle/>
          <a:p>
            <a:pPr algn="l">
              <a:spcAft>
                <a:spcPts val="500"/>
              </a:spcAft>
            </a:pPr>
            <a:r>
              <a:rPr sz="2000" b="0" i="0">
                <a:solidFill>
                  <a:srgbClr val="1F2937"/>
                </a:solidFill>
                <a:latin typeface="Calibri"/>
              </a:rPr>
              <a:t>• Maya ate </a:t>
            </a:r>
            <a:r>
              <a:rPr sz="2000" b="1" i="0">
                <a:solidFill>
                  <a:srgbClr val="1F2937"/>
                </a:solidFill>
                <a:latin typeface="Calibri"/>
              </a:rPr>
              <a:t>1/2</a:t>
            </a:r>
            <a:r>
              <a:rPr sz="2000" b="0" i="0">
                <a:solidFill>
                  <a:srgbClr val="1F2937"/>
                </a:solidFill>
                <a:latin typeface="Calibri"/>
              </a:rPr>
              <a:t> of a fresh pan of brownies.</a:t>
            </a:r>
          </a:p>
          <a:p>
            <a:pPr algn="l">
              <a:spcAft>
                <a:spcPts val="500"/>
              </a:spcAft>
            </a:pPr>
            <a:r>
              <a:rPr sz="2000" b="0" i="0">
                <a:solidFill>
                  <a:srgbClr val="1F2937"/>
                </a:solidFill>
                <a:latin typeface="Calibri"/>
              </a:rPr>
              <a:t>• Carlos ate </a:t>
            </a:r>
            <a:r>
              <a:rPr sz="2000" b="1" i="0">
                <a:solidFill>
                  <a:srgbClr val="1F2937"/>
                </a:solidFill>
                <a:latin typeface="Calibri"/>
              </a:rPr>
              <a:t>2/4</a:t>
            </a:r>
            <a:r>
              <a:rPr sz="2000" b="0" i="0">
                <a:solidFill>
                  <a:srgbClr val="1F2937"/>
                </a:solidFill>
                <a:latin typeface="Calibri"/>
              </a:rPr>
              <a:t> of an identical pan of brownies.</a:t>
            </a:r>
          </a:p>
          <a:p>
            <a:pPr algn="l"/>
            <a:r>
              <a:rPr sz="2000" b="0" i="0">
                <a:solidFill>
                  <a:srgbClr val="1F2937"/>
                </a:solidFill>
                <a:latin typeface="Calibri"/>
              </a:rPr>
              <a:t>• Carlos says: *"I ate more than you because 2 and 4 are bigger than 1 and 2!"*</a:t>
            </a:r>
          </a:p>
        </p:txBody>
      </p:sp>
      <p:sp>
        <p:nvSpPr>
          <p:cNvPr id="11" name="TextBox 10"/>
          <p:cNvSpPr txBox="1"/>
          <p:nvPr/>
        </p:nvSpPr>
        <p:spPr>
          <a:xfrm>
            <a:off x="6126480" y="3840480"/>
            <a:ext cx="5029200" cy="411480"/>
          </a:xfrm>
          <a:prstGeom prst="rect">
            <a:avLst/>
          </a:prstGeom>
          <a:noFill/>
        </p:spPr>
        <p:txBody>
          <a:bodyPr wrap="square" anchor="t">
            <a:noAutofit/>
          </a:bodyPr>
          <a:lstStyle/>
          <a:p>
            <a:pPr algn="l"/>
            <a:r>
              <a:rPr sz="1900" b="1" i="0">
                <a:solidFill>
                  <a:srgbClr val="1F2937"/>
                </a:solidFill>
                <a:latin typeface="Calibri"/>
              </a:rPr>
              <a:t>Is Carlos correct? Let's check the brownies:</a:t>
            </a:r>
          </a:p>
        </p:txBody>
      </p:sp>
      <p:sp>
        <p:nvSpPr>
          <p:cNvPr id="12" name="Rectangle 11"/>
          <p:cNvSpPr/>
          <p:nvPr/>
        </p:nvSpPr>
        <p:spPr>
          <a:xfrm>
            <a:off x="6126480" y="4389120"/>
            <a:ext cx="4023360" cy="594360"/>
          </a:xfrm>
          <a:prstGeom prst="rect">
            <a:avLst/>
          </a:prstGeom>
          <a:solidFill>
            <a:srgbClr val="FFFFFF"/>
          </a:solidFill>
          <a:ln w="25400">
            <a:solidFill>
              <a:srgbClr val="B45309"/>
            </a:solidFill>
          </a:ln>
        </p:spPr>
        <p:txBody>
          <a:bodyPr rtlCol="0" anchor="ctr"/>
          <a:lstStyle/>
          <a:p>
            <a:pPr algn="ctr"/>
          </a:p>
        </p:txBody>
      </p:sp>
      <p:sp>
        <p:nvSpPr>
          <p:cNvPr id="13" name="Rectangle 12"/>
          <p:cNvSpPr/>
          <p:nvPr/>
        </p:nvSpPr>
        <p:spPr>
          <a:xfrm>
            <a:off x="6126480" y="4389120"/>
            <a:ext cx="2011680" cy="594360"/>
          </a:xfrm>
          <a:prstGeom prst="rect">
            <a:avLst/>
          </a:prstGeom>
          <a:solidFill>
            <a:srgbClr val="D97706"/>
          </a:solidFill>
          <a:ln w="25400">
            <a:solidFill>
              <a:srgbClr val="B45309"/>
            </a:solidFill>
          </a:ln>
        </p:spPr>
        <p:txBody>
          <a:bodyPr rtlCol="0" anchor="ctr"/>
          <a:lstStyle/>
          <a:p>
            <a:pPr algn="ctr"/>
          </a:p>
        </p:txBody>
      </p:sp>
      <p:cxnSp>
        <p:nvCxnSpPr>
          <p:cNvPr id="14" name="Connector 13"/>
          <p:cNvCxnSpPr/>
          <p:nvPr/>
        </p:nvCxnSpPr>
        <p:spPr>
          <a:xfrm>
            <a:off x="8138160" y="4389120"/>
            <a:ext cx="0" cy="594360"/>
          </a:xfrm>
          <a:prstGeom prst="line">
            <a:avLst/>
          </a:prstGeom>
          <a:ln w="19050">
            <a:solidFill>
              <a:srgbClr val="B4530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287000" y="4389120"/>
            <a:ext cx="1645920" cy="594360"/>
          </a:xfrm>
          <a:prstGeom prst="rect">
            <a:avLst/>
          </a:prstGeom>
          <a:noFill/>
        </p:spPr>
        <p:txBody>
          <a:bodyPr wrap="square" anchor="ctr">
            <a:noAutofit/>
          </a:bodyPr>
          <a:lstStyle/>
          <a:p>
            <a:pPr algn="l"/>
            <a:r>
              <a:rPr sz="2000" b="1" i="0">
                <a:solidFill>
                  <a:srgbClr val="1F2937"/>
                </a:solidFill>
                <a:latin typeface="Calibri"/>
              </a:rPr>
              <a:t>Maya (1/2)</a:t>
            </a:r>
          </a:p>
        </p:txBody>
      </p:sp>
      <p:sp>
        <p:nvSpPr>
          <p:cNvPr id="16" name="Rectangle 15"/>
          <p:cNvSpPr/>
          <p:nvPr/>
        </p:nvSpPr>
        <p:spPr>
          <a:xfrm>
            <a:off x="6126480" y="5212080"/>
            <a:ext cx="4023360" cy="594360"/>
          </a:xfrm>
          <a:prstGeom prst="rect">
            <a:avLst/>
          </a:prstGeom>
          <a:solidFill>
            <a:srgbClr val="FFFFFF"/>
          </a:solidFill>
          <a:ln w="25400">
            <a:solidFill>
              <a:srgbClr val="B45309"/>
            </a:solidFill>
          </a:ln>
        </p:spPr>
        <p:txBody>
          <a:bodyPr rtlCol="0" anchor="ctr"/>
          <a:lstStyle/>
          <a:p>
            <a:pPr algn="ctr"/>
          </a:p>
        </p:txBody>
      </p:sp>
      <p:sp>
        <p:nvSpPr>
          <p:cNvPr id="17" name="Rectangle 16"/>
          <p:cNvSpPr/>
          <p:nvPr/>
        </p:nvSpPr>
        <p:spPr>
          <a:xfrm>
            <a:off x="6126480" y="5212080"/>
            <a:ext cx="2011680" cy="594360"/>
          </a:xfrm>
          <a:prstGeom prst="rect">
            <a:avLst/>
          </a:prstGeom>
          <a:solidFill>
            <a:srgbClr val="D97706"/>
          </a:solidFill>
          <a:ln w="25400">
            <a:solidFill>
              <a:srgbClr val="B45309"/>
            </a:solidFill>
          </a:ln>
        </p:spPr>
        <p:txBody>
          <a:bodyPr rtlCol="0" anchor="ctr"/>
          <a:lstStyle/>
          <a:p>
            <a:pPr algn="ctr"/>
          </a:p>
        </p:txBody>
      </p:sp>
      <p:cxnSp>
        <p:nvCxnSpPr>
          <p:cNvPr id="18" name="Connector 17"/>
          <p:cNvCxnSpPr/>
          <p:nvPr/>
        </p:nvCxnSpPr>
        <p:spPr>
          <a:xfrm>
            <a:off x="7132320" y="5212080"/>
            <a:ext cx="0" cy="594360"/>
          </a:xfrm>
          <a:prstGeom prst="line">
            <a:avLst/>
          </a:prstGeom>
          <a:ln w="19050">
            <a:solidFill>
              <a:srgbClr val="B4530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138160" y="5212080"/>
            <a:ext cx="0" cy="594360"/>
          </a:xfrm>
          <a:prstGeom prst="line">
            <a:avLst/>
          </a:prstGeom>
          <a:ln w="19050">
            <a:solidFill>
              <a:srgbClr val="B4530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144000" y="5212080"/>
            <a:ext cx="0" cy="594360"/>
          </a:xfrm>
          <a:prstGeom prst="line">
            <a:avLst/>
          </a:prstGeom>
          <a:ln w="19050">
            <a:solidFill>
              <a:srgbClr val="B4530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287000" y="5212080"/>
            <a:ext cx="1645920" cy="594360"/>
          </a:xfrm>
          <a:prstGeom prst="rect">
            <a:avLst/>
          </a:prstGeom>
          <a:noFill/>
        </p:spPr>
        <p:txBody>
          <a:bodyPr wrap="square" anchor="ctr">
            <a:noAutofit/>
          </a:bodyPr>
          <a:lstStyle/>
          <a:p>
            <a:pPr algn="l"/>
            <a:r>
              <a:rPr sz="2000" b="1" i="0">
                <a:solidFill>
                  <a:srgbClr val="1F2937"/>
                </a:solidFill>
                <a:latin typeface="Calibri"/>
              </a:rPr>
              <a:t>Carlos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365760"/>
            <a:ext cx="10698480" cy="731520"/>
          </a:xfrm>
        </p:spPr>
        <p:txBody>
          <a:bodyPr wrap="square" anchor="ctr">
            <a:noAutofit/>
          </a:bodyPr>
          <a:lstStyle/>
          <a:p>
            <a:pPr algn="l"/>
            <a:r>
              <a:rPr sz="3600" b="1" i="0">
                <a:solidFill>
                  <a:srgbClr val="1F2937"/>
                </a:solidFill>
                <a:latin typeface="Calibri"/>
              </a:rPr>
              <a:t>The Big Idea: What Does Equivalent Mean?</a:t>
            </a:r>
          </a:p>
        </p:txBody>
      </p:sp>
      <p:sp>
        <p:nvSpPr>
          <p:cNvPr id="3" name="Rounded Rectangle 2"/>
          <p:cNvSpPr/>
          <p:nvPr/>
        </p:nvSpPr>
        <p:spPr>
          <a:xfrm>
            <a:off x="731520" y="1188720"/>
            <a:ext cx="2926080" cy="502920"/>
          </a:xfrm>
          <a:prstGeom prst="roundRect">
            <a:avLst>
              <a:gd name="adj" fmla="val 50000"/>
            </a:avLst>
          </a:prstGeom>
          <a:solidFill>
            <a:srgbClr val="1D4ED8"/>
          </a:solidFill>
          <a:ln>
            <a:noFill/>
          </a:ln>
        </p:spPr>
        <p:txBody>
          <a:bodyPr rtlCol="0" anchor="ctr" wrap="square">
            <a:noAutofit/>
          </a:bodyPr>
          <a:lstStyle/>
          <a:p>
            <a:pPr algn="ctr"/>
            <a:r>
              <a:rPr sz="1800" b="1" i="0">
                <a:solidFill>
                  <a:srgbClr val="FFFFFF"/>
                </a:solidFill>
                <a:latin typeface="Calibri"/>
              </a:rPr>
              <a:t>I DO: CORE CONCEPT</a:t>
            </a:r>
          </a:p>
        </p:txBody>
      </p:sp>
      <p:sp>
        <p:nvSpPr>
          <p:cNvPr id="4" name="Rounded Rectangle 3"/>
          <p:cNvSpPr/>
          <p:nvPr/>
        </p:nvSpPr>
        <p:spPr>
          <a:xfrm>
            <a:off x="731520" y="1737360"/>
            <a:ext cx="10698480" cy="1828800"/>
          </a:xfrm>
          <a:prstGeom prst="roundRect">
            <a:avLst>
              <a:gd name="adj" fmla="val 8000"/>
            </a:avLst>
          </a:prstGeom>
          <a:solidFill>
            <a:srgbClr val="EFF6FF"/>
          </a:solidFill>
          <a:ln w="19050">
            <a:solidFill>
              <a:srgbClr val="BFDBFE"/>
            </a:solidFill>
          </a:ln>
        </p:spPr>
        <p:txBody>
          <a:bodyPr rtlCol="0" anchor="ctr"/>
          <a:lstStyle/>
          <a:p>
            <a:pPr algn="ctr"/>
          </a:p>
        </p:txBody>
      </p:sp>
      <p:sp>
        <p:nvSpPr>
          <p:cNvPr id="5" name="TextBox 4"/>
          <p:cNvSpPr txBox="1"/>
          <p:nvPr/>
        </p:nvSpPr>
        <p:spPr>
          <a:xfrm>
            <a:off x="1005840" y="1874519"/>
            <a:ext cx="10149840" cy="411480"/>
          </a:xfrm>
          <a:prstGeom prst="rect">
            <a:avLst/>
          </a:prstGeom>
          <a:noFill/>
        </p:spPr>
        <p:txBody>
          <a:bodyPr wrap="square" anchor="t">
            <a:noAutofit/>
          </a:bodyPr>
          <a:lstStyle/>
          <a:p>
            <a:pPr algn="l"/>
            <a:r>
              <a:rPr sz="2400" b="1" i="0">
                <a:solidFill>
                  <a:srgbClr val="1D4ED8"/>
                </a:solidFill>
                <a:latin typeface="Calibri"/>
              </a:rPr>
              <a:t>What Are Equivalent Fractions?</a:t>
            </a:r>
          </a:p>
        </p:txBody>
      </p:sp>
      <p:sp>
        <p:nvSpPr>
          <p:cNvPr id="6" name="TextBox 5"/>
          <p:cNvSpPr txBox="1"/>
          <p:nvPr/>
        </p:nvSpPr>
        <p:spPr>
          <a:xfrm>
            <a:off x="1005840" y="2331720"/>
            <a:ext cx="10149840" cy="1097280"/>
          </a:xfrm>
          <a:prstGeom prst="rect">
            <a:avLst/>
          </a:prstGeom>
          <a:noFill/>
        </p:spPr>
        <p:txBody>
          <a:bodyPr wrap="square" anchor="t">
            <a:noAutofit/>
          </a:bodyPr>
          <a:lstStyle/>
          <a:p>
            <a:pPr algn="l">
              <a:spcAft>
                <a:spcPts val="500"/>
              </a:spcAft>
            </a:pPr>
            <a:r>
              <a:rPr sz="2000" b="0" i="0">
                <a:solidFill>
                  <a:srgbClr val="1F2937"/>
                </a:solidFill>
                <a:latin typeface="Calibri"/>
              </a:rPr>
              <a:t>• </a:t>
            </a:r>
            <a:r>
              <a:rPr sz="2000" b="1" i="0">
                <a:solidFill>
                  <a:srgbClr val="1F2937"/>
                </a:solidFill>
                <a:latin typeface="Calibri"/>
              </a:rPr>
              <a:t>Equivalent fractions</a:t>
            </a:r>
            <a:r>
              <a:rPr sz="2000" b="0" i="0">
                <a:solidFill>
                  <a:srgbClr val="1F2937"/>
                </a:solidFill>
                <a:latin typeface="Calibri"/>
              </a:rPr>
              <a:t> are fractions that name the </a:t>
            </a:r>
            <a:r>
              <a:rPr sz="2000" b="1" i="0">
                <a:solidFill>
                  <a:srgbClr val="1F2937"/>
                </a:solidFill>
                <a:latin typeface="Calibri"/>
              </a:rPr>
              <a:t>exact same amount or value</a:t>
            </a:r>
            <a:r>
              <a:rPr sz="2000" b="0" i="0">
                <a:solidFill>
                  <a:srgbClr val="1F2937"/>
                </a:solidFill>
                <a:latin typeface="Calibri"/>
              </a:rPr>
              <a:t> [1].</a:t>
            </a:r>
          </a:p>
          <a:p>
            <a:pPr algn="l">
              <a:spcAft>
                <a:spcPts val="500"/>
              </a:spcAft>
            </a:pPr>
            <a:r>
              <a:rPr sz="2000" b="0" i="0">
                <a:solidFill>
                  <a:srgbClr val="1F2937"/>
                </a:solidFill>
                <a:latin typeface="Calibri"/>
              </a:rPr>
              <a:t>• Look at the root word: </a:t>
            </a:r>
            <a:r>
              <a:rPr sz="2000" b="1" i="0">
                <a:solidFill>
                  <a:srgbClr val="1F2937"/>
                </a:solidFill>
                <a:latin typeface="Calibri"/>
              </a:rPr>
              <a:t>Equi-</a:t>
            </a:r>
            <a:r>
              <a:rPr sz="2000" b="0" i="0">
                <a:solidFill>
                  <a:srgbClr val="1F2937"/>
                </a:solidFill>
                <a:latin typeface="Calibri"/>
              </a:rPr>
              <a:t> means </a:t>
            </a:r>
            <a:r>
              <a:rPr sz="2000" b="1" i="0">
                <a:solidFill>
                  <a:srgbClr val="1F2937"/>
                </a:solidFill>
                <a:latin typeface="Calibri"/>
              </a:rPr>
              <a:t>equal</a:t>
            </a:r>
            <a:r>
              <a:rPr sz="2000" b="0" i="0">
                <a:solidFill>
                  <a:srgbClr val="1F2937"/>
                </a:solidFill>
                <a:latin typeface="Calibri"/>
              </a:rPr>
              <a:t>, and </a:t>
            </a:r>
            <a:r>
              <a:rPr sz="2000" b="1" i="0">
                <a:solidFill>
                  <a:srgbClr val="1F2937"/>
                </a:solidFill>
                <a:latin typeface="Calibri"/>
              </a:rPr>
              <a:t>-valent</a:t>
            </a:r>
            <a:r>
              <a:rPr sz="2000" b="0" i="0">
                <a:solidFill>
                  <a:srgbClr val="1F2937"/>
                </a:solidFill>
                <a:latin typeface="Calibri"/>
              </a:rPr>
              <a:t> means </a:t>
            </a:r>
            <a:r>
              <a:rPr sz="2000" b="1" i="0">
                <a:solidFill>
                  <a:srgbClr val="1F2937"/>
                </a:solidFill>
                <a:latin typeface="Calibri"/>
              </a:rPr>
              <a:t>value</a:t>
            </a:r>
            <a:r>
              <a:rPr sz="2000" b="0" i="0">
                <a:solidFill>
                  <a:srgbClr val="1F2937"/>
                </a:solidFill>
                <a:latin typeface="Calibri"/>
              </a:rPr>
              <a:t>.</a:t>
            </a:r>
          </a:p>
          <a:p>
            <a:pPr algn="l"/>
            <a:r>
              <a:rPr sz="2000" b="0" i="0">
                <a:solidFill>
                  <a:srgbClr val="1F2937"/>
                </a:solidFill>
                <a:latin typeface="Calibri"/>
              </a:rPr>
              <a:t>• They look different because the whole is sliced into a different number of parts!</a:t>
            </a:r>
          </a:p>
        </p:txBody>
      </p:sp>
      <p:sp>
        <p:nvSpPr>
          <p:cNvPr id="7" name="Rounded Rectangle 6"/>
          <p:cNvSpPr/>
          <p:nvPr/>
        </p:nvSpPr>
        <p:spPr>
          <a:xfrm>
            <a:off x="731520" y="3840480"/>
            <a:ext cx="5212080" cy="2468880"/>
          </a:xfrm>
          <a:prstGeom prst="roundRect">
            <a:avLst>
              <a:gd name="adj" fmla="val 8000"/>
            </a:avLst>
          </a:prstGeom>
          <a:solidFill>
            <a:srgbClr val="FEF3C7"/>
          </a:solidFill>
          <a:ln w="19050">
            <a:solidFill>
              <a:srgbClr val="FDE68A"/>
            </a:solidFill>
          </a:ln>
        </p:spPr>
        <p:txBody>
          <a:bodyPr rtlCol="0" anchor="ctr"/>
          <a:lstStyle/>
          <a:p>
            <a:pPr algn="ctr"/>
          </a:p>
        </p:txBody>
      </p:sp>
      <p:sp>
        <p:nvSpPr>
          <p:cNvPr id="8" name="TextBox 7"/>
          <p:cNvSpPr txBox="1"/>
          <p:nvPr/>
        </p:nvSpPr>
        <p:spPr>
          <a:xfrm>
            <a:off x="1005840" y="3977639"/>
            <a:ext cx="4663440" cy="411480"/>
          </a:xfrm>
          <a:prstGeom prst="rect">
            <a:avLst/>
          </a:prstGeom>
          <a:noFill/>
        </p:spPr>
        <p:txBody>
          <a:bodyPr wrap="square" anchor="t">
            <a:noAutofit/>
          </a:bodyPr>
          <a:lstStyle/>
          <a:p>
            <a:pPr algn="l"/>
            <a:r>
              <a:rPr sz="2200" b="1" i="0">
                <a:solidFill>
                  <a:srgbClr val="D97706"/>
                </a:solidFill>
                <a:latin typeface="Calibri"/>
              </a:rPr>
              <a:t>⚠️ The Golden Rule: Same-Size Whole</a:t>
            </a:r>
          </a:p>
        </p:txBody>
      </p:sp>
      <p:sp>
        <p:nvSpPr>
          <p:cNvPr id="9" name="TextBox 8"/>
          <p:cNvSpPr txBox="1"/>
          <p:nvPr/>
        </p:nvSpPr>
        <p:spPr>
          <a:xfrm>
            <a:off x="1005840" y="4480560"/>
            <a:ext cx="4663440" cy="1645920"/>
          </a:xfrm>
          <a:prstGeom prst="rect">
            <a:avLst/>
          </a:prstGeom>
          <a:noFill/>
        </p:spPr>
        <p:txBody>
          <a:bodyPr wrap="square" anchor="t">
            <a:noAutofit/>
          </a:bodyPr>
          <a:lstStyle/>
          <a:p>
            <a:pPr algn="l" marL="289560" indent="-289560">
              <a:spcAft>
                <a:spcPts val="600"/>
              </a:spcAft>
              <a:buFont typeface="Arial"/>
              <a:buChar char="•"/>
            </a:pPr>
            <a:r>
              <a:rPr sz="1900" b="0" i="0">
                <a:solidFill>
                  <a:srgbClr val="1F2937"/>
                </a:solidFill>
                <a:latin typeface="Calibri"/>
              </a:rPr>
              <a:t>Fractions can </a:t>
            </a:r>
            <a:r>
              <a:rPr sz="1900" b="1" i="0">
                <a:solidFill>
                  <a:srgbClr val="1F2937"/>
                </a:solidFill>
                <a:latin typeface="Calibri"/>
              </a:rPr>
              <a:t>only</a:t>
            </a:r>
            <a:r>
              <a:rPr sz="1900" b="0" i="0">
                <a:solidFill>
                  <a:srgbClr val="1F2937"/>
                </a:solidFill>
                <a:latin typeface="Calibri"/>
              </a:rPr>
              <a:t> be equivalent if they refer to the </a:t>
            </a:r>
            <a:r>
              <a:rPr sz="1900" b="1" i="0">
                <a:solidFill>
                  <a:srgbClr val="1F2937"/>
                </a:solidFill>
                <a:latin typeface="Calibri"/>
              </a:rPr>
              <a:t>same size whole</a:t>
            </a:r>
            <a:r>
              <a:rPr sz="1900" b="0" i="0">
                <a:solidFill>
                  <a:srgbClr val="1F2937"/>
                </a:solidFill>
                <a:latin typeface="Calibri"/>
              </a:rPr>
              <a:t> [4], [7].</a:t>
            </a:r>
          </a:p>
          <a:p>
            <a:pPr algn="l" marL="289560" indent="-289560">
              <a:spcAft>
                <a:spcPts val="600"/>
              </a:spcAft>
              <a:buFont typeface="Arial"/>
              <a:buChar char="•"/>
            </a:pPr>
            <a:r>
              <a:rPr sz="1900" b="0" i="0">
                <a:solidFill>
                  <a:srgbClr val="1F2937"/>
                </a:solidFill>
                <a:latin typeface="Calibri"/>
              </a:rPr>
              <a:t>Half of a personal pizza is NOT equal to half of a giant party pizza!</a:t>
            </a:r>
          </a:p>
          <a:p>
            <a:pPr algn="l" marL="289560" indent="-289560">
              <a:buFont typeface="Arial"/>
              <a:buChar char="•"/>
            </a:pPr>
            <a:r>
              <a:rPr sz="1900" b="0" i="0">
                <a:solidFill>
                  <a:srgbClr val="1F2937"/>
                </a:solidFill>
                <a:latin typeface="Calibri"/>
              </a:rPr>
              <a:t>Always confirm the wholes are identical.</a:t>
            </a:r>
          </a:p>
        </p:txBody>
      </p:sp>
      <p:sp>
        <p:nvSpPr>
          <p:cNvPr id="10" name="Rounded Rectangle 9"/>
          <p:cNvSpPr/>
          <p:nvPr/>
        </p:nvSpPr>
        <p:spPr>
          <a:xfrm>
            <a:off x="6217920" y="3840480"/>
            <a:ext cx="5212080" cy="2468880"/>
          </a:xfrm>
          <a:prstGeom prst="roundRect">
            <a:avLst>
              <a:gd name="adj" fmla="val 8000"/>
            </a:avLst>
          </a:prstGeom>
          <a:solidFill>
            <a:srgbClr val="F8FAFC"/>
          </a:solidFill>
          <a:ln w="19050">
            <a:solidFill>
              <a:srgbClr val="CBD5E1"/>
            </a:solidFill>
          </a:ln>
        </p:spPr>
        <p:txBody>
          <a:bodyPr rtlCol="0" anchor="ctr"/>
          <a:lstStyle/>
          <a:p>
            <a:pPr algn="ctr"/>
          </a:p>
        </p:txBody>
      </p:sp>
      <p:sp>
        <p:nvSpPr>
          <p:cNvPr id="11" name="TextBox 10"/>
          <p:cNvSpPr txBox="1"/>
          <p:nvPr/>
        </p:nvSpPr>
        <p:spPr>
          <a:xfrm>
            <a:off x="6492240" y="3977639"/>
            <a:ext cx="4663440" cy="411480"/>
          </a:xfrm>
          <a:prstGeom prst="rect">
            <a:avLst/>
          </a:prstGeom>
          <a:noFill/>
        </p:spPr>
        <p:txBody>
          <a:bodyPr wrap="square" anchor="t">
            <a:noAutofit/>
          </a:bodyPr>
          <a:lstStyle/>
          <a:p>
            <a:pPr algn="l"/>
            <a:r>
              <a:rPr sz="2200" b="1" i="0">
                <a:solidFill>
                  <a:srgbClr val="0F294A"/>
                </a:solidFill>
                <a:latin typeface="Calibri"/>
              </a:rPr>
              <a:t>Equal Value, Different Slices</a:t>
            </a:r>
          </a:p>
        </p:txBody>
      </p:sp>
      <p:sp>
        <p:nvSpPr>
          <p:cNvPr id="12" name="TextBox 11"/>
          <p:cNvSpPr txBox="1"/>
          <p:nvPr/>
        </p:nvSpPr>
        <p:spPr>
          <a:xfrm>
            <a:off x="6492240" y="4480560"/>
            <a:ext cx="4663440" cy="731520"/>
          </a:xfrm>
          <a:prstGeom prst="rect">
            <a:avLst/>
          </a:prstGeom>
          <a:noFill/>
        </p:spPr>
        <p:txBody>
          <a:bodyPr wrap="square" anchor="t">
            <a:noAutofit/>
          </a:bodyPr>
          <a:lstStyle/>
          <a:p>
            <a:pPr algn="l">
              <a:spcAft>
                <a:spcPts val="600"/>
              </a:spcAft>
            </a:pPr>
            <a:r>
              <a:rPr sz="1900" b="0" i="0">
                <a:solidFill>
                  <a:srgbClr val="1F2937"/>
                </a:solidFill>
                <a:latin typeface="Calibri"/>
              </a:rPr>
              <a:t>Both rectangles below are the </a:t>
            </a:r>
            <a:r>
              <a:rPr sz="1900" b="1" i="0">
                <a:solidFill>
                  <a:srgbClr val="1F2937"/>
                </a:solidFill>
                <a:latin typeface="Calibri"/>
              </a:rPr>
              <a:t>same whole</a:t>
            </a:r>
            <a:r>
              <a:rPr sz="1900" b="0" i="0">
                <a:solidFill>
                  <a:srgbClr val="1F2937"/>
                </a:solidFill>
                <a:latin typeface="Calibri"/>
              </a:rPr>
              <a:t>.</a:t>
            </a:r>
          </a:p>
          <a:p>
            <a:pPr algn="l"/>
            <a:r>
              <a:rPr sz="1900" b="0" i="0">
                <a:solidFill>
                  <a:srgbClr val="1F2937"/>
                </a:solidFill>
                <a:latin typeface="Calibri"/>
              </a:rPr>
              <a:t>Both have the </a:t>
            </a:r>
            <a:r>
              <a:rPr sz="1900" b="1" i="0">
                <a:solidFill>
                  <a:srgbClr val="1F2937"/>
                </a:solidFill>
                <a:latin typeface="Calibri"/>
              </a:rPr>
              <a:t>same shaded area</a:t>
            </a:r>
            <a:r>
              <a:rPr sz="1900" b="0" i="0">
                <a:solidFill>
                  <a:srgbClr val="1F2937"/>
                </a:solidFill>
                <a:latin typeface="Calibri"/>
              </a:rPr>
              <a:t> (half the space).</a:t>
            </a:r>
          </a:p>
        </p:txBody>
      </p:sp>
      <p:sp>
        <p:nvSpPr>
          <p:cNvPr id="13" name="Rectangle 12"/>
          <p:cNvSpPr/>
          <p:nvPr/>
        </p:nvSpPr>
        <p:spPr>
          <a:xfrm>
            <a:off x="6583680" y="5303520"/>
            <a:ext cx="1920240" cy="822960"/>
          </a:xfrm>
          <a:prstGeom prst="rect">
            <a:avLst/>
          </a:prstGeom>
          <a:solidFill>
            <a:srgbClr val="FFFFFF"/>
          </a:solidFill>
          <a:ln w="25400">
            <a:solidFill>
              <a:srgbClr val="0F294A"/>
            </a:solidFill>
          </a:ln>
        </p:spPr>
        <p:txBody>
          <a:bodyPr rtlCol="0" anchor="ctr"/>
          <a:lstStyle/>
          <a:p>
            <a:pPr algn="ctr"/>
          </a:p>
        </p:txBody>
      </p:sp>
      <p:sp>
        <p:nvSpPr>
          <p:cNvPr id="14" name="Rectangle 13"/>
          <p:cNvSpPr/>
          <p:nvPr/>
        </p:nvSpPr>
        <p:spPr>
          <a:xfrm>
            <a:off x="6583680" y="5303520"/>
            <a:ext cx="960120" cy="822960"/>
          </a:xfrm>
          <a:prstGeom prst="rect">
            <a:avLst/>
          </a:prstGeom>
          <a:solidFill>
            <a:srgbClr val="1D4ED8"/>
          </a:solidFill>
          <a:ln w="15240">
            <a:solidFill>
              <a:srgbClr val="0F294A"/>
            </a:solidFill>
          </a:ln>
        </p:spPr>
        <p:txBody>
          <a:bodyPr rtlCol="0" anchor="ctr"/>
          <a:lstStyle/>
          <a:p>
            <a:pPr algn="ctr"/>
          </a:p>
        </p:txBody>
      </p:sp>
      <p:cxnSp>
        <p:nvCxnSpPr>
          <p:cNvPr id="15" name="Connector 14"/>
          <p:cNvCxnSpPr/>
          <p:nvPr/>
        </p:nvCxnSpPr>
        <p:spPr>
          <a:xfrm>
            <a:off x="7543800" y="5303520"/>
            <a:ext cx="0" cy="82296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0" y="6217920"/>
            <a:ext cx="1920240" cy="411480"/>
          </a:xfrm>
          <a:prstGeom prst="rect">
            <a:avLst/>
          </a:prstGeom>
          <a:noFill/>
        </p:spPr>
        <p:txBody>
          <a:bodyPr wrap="square" anchor="t">
            <a:noAutofit/>
          </a:bodyPr>
          <a:lstStyle/>
          <a:p>
            <a:pPr algn="ctr"/>
            <a:r>
              <a:rPr sz="2000" b="1" i="0">
                <a:solidFill>
                  <a:srgbClr val="1F2937"/>
                </a:solidFill>
                <a:latin typeface="Calibri"/>
              </a:rPr>
              <a:t>1/2</a:t>
            </a:r>
          </a:p>
        </p:txBody>
      </p:sp>
      <p:sp>
        <p:nvSpPr>
          <p:cNvPr id="17" name="Rectangle 16"/>
          <p:cNvSpPr/>
          <p:nvPr/>
        </p:nvSpPr>
        <p:spPr>
          <a:xfrm>
            <a:off x="9052560" y="5303520"/>
            <a:ext cx="1920240" cy="822960"/>
          </a:xfrm>
          <a:prstGeom prst="rect">
            <a:avLst/>
          </a:prstGeom>
          <a:solidFill>
            <a:srgbClr val="FFFFFF"/>
          </a:solidFill>
          <a:ln w="25400">
            <a:solidFill>
              <a:srgbClr val="0F294A"/>
            </a:solidFill>
          </a:ln>
        </p:spPr>
        <p:txBody>
          <a:bodyPr rtlCol="0" anchor="ctr"/>
          <a:lstStyle/>
          <a:p>
            <a:pPr algn="ctr"/>
          </a:p>
        </p:txBody>
      </p:sp>
      <p:sp>
        <p:nvSpPr>
          <p:cNvPr id="18" name="Rectangle 17"/>
          <p:cNvSpPr/>
          <p:nvPr/>
        </p:nvSpPr>
        <p:spPr>
          <a:xfrm>
            <a:off x="9052560" y="5303520"/>
            <a:ext cx="960120" cy="411480"/>
          </a:xfrm>
          <a:prstGeom prst="rect">
            <a:avLst/>
          </a:prstGeom>
          <a:solidFill>
            <a:srgbClr val="1D4ED8"/>
          </a:solidFill>
          <a:ln w="15240">
            <a:solidFill>
              <a:srgbClr val="0F294A"/>
            </a:solidFill>
          </a:ln>
        </p:spPr>
        <p:txBody>
          <a:bodyPr rtlCol="0" anchor="ctr"/>
          <a:lstStyle/>
          <a:p>
            <a:pPr algn="ctr"/>
          </a:p>
        </p:txBody>
      </p:sp>
      <p:sp>
        <p:nvSpPr>
          <p:cNvPr id="19" name="Rectangle 18"/>
          <p:cNvSpPr/>
          <p:nvPr/>
        </p:nvSpPr>
        <p:spPr>
          <a:xfrm>
            <a:off x="10012680" y="5303520"/>
            <a:ext cx="960120" cy="411480"/>
          </a:xfrm>
          <a:prstGeom prst="rect">
            <a:avLst/>
          </a:prstGeom>
          <a:solidFill>
            <a:srgbClr val="1D4ED8"/>
          </a:solidFill>
          <a:ln w="15240">
            <a:solidFill>
              <a:srgbClr val="0F294A"/>
            </a:solidFill>
          </a:ln>
        </p:spPr>
        <p:txBody>
          <a:bodyPr rtlCol="0" anchor="ctr"/>
          <a:lstStyle/>
          <a:p>
            <a:pPr algn="ctr"/>
          </a:p>
        </p:txBody>
      </p:sp>
      <p:cxnSp>
        <p:nvCxnSpPr>
          <p:cNvPr id="20" name="Connector 19"/>
          <p:cNvCxnSpPr/>
          <p:nvPr/>
        </p:nvCxnSpPr>
        <p:spPr>
          <a:xfrm>
            <a:off x="9052560" y="5715000"/>
            <a:ext cx="1920240" cy="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012680" y="5303520"/>
            <a:ext cx="0" cy="82296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052560" y="6217920"/>
            <a:ext cx="1920240" cy="411480"/>
          </a:xfrm>
          <a:prstGeom prst="rect">
            <a:avLst/>
          </a:prstGeom>
          <a:noFill/>
        </p:spPr>
        <p:txBody>
          <a:bodyPr wrap="square" anchor="t">
            <a:noAutofit/>
          </a:bodyPr>
          <a:lstStyle/>
          <a:p>
            <a:pPr algn="ctr"/>
            <a:r>
              <a:rPr sz="2000" b="1" i="0">
                <a:solidFill>
                  <a:srgbClr val="1F2937"/>
                </a:solidFill>
                <a:latin typeface="Calibri"/>
              </a:rPr>
              <a:t>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365760"/>
            <a:ext cx="10698480" cy="731520"/>
          </a:xfrm>
        </p:spPr>
        <p:txBody>
          <a:bodyPr wrap="square" anchor="ctr">
            <a:noAutofit/>
          </a:bodyPr>
          <a:lstStyle/>
          <a:p>
            <a:pPr algn="l"/>
            <a:r>
              <a:rPr sz="3600" b="1" i="0">
                <a:solidFill>
                  <a:srgbClr val="1F2937"/>
                </a:solidFill>
                <a:latin typeface="Calibri"/>
              </a:rPr>
              <a:t>Model 1: Fraction Strips (Tape Diagrams)</a:t>
            </a:r>
          </a:p>
        </p:txBody>
      </p:sp>
      <p:sp>
        <p:nvSpPr>
          <p:cNvPr id="3" name="Rounded Rectangle 2"/>
          <p:cNvSpPr/>
          <p:nvPr/>
        </p:nvSpPr>
        <p:spPr>
          <a:xfrm>
            <a:off x="731520" y="1188720"/>
            <a:ext cx="2926080" cy="502920"/>
          </a:xfrm>
          <a:prstGeom prst="roundRect">
            <a:avLst>
              <a:gd name="adj" fmla="val 50000"/>
            </a:avLst>
          </a:prstGeom>
          <a:solidFill>
            <a:srgbClr val="1D4ED8"/>
          </a:solidFill>
          <a:ln>
            <a:noFill/>
          </a:ln>
        </p:spPr>
        <p:txBody>
          <a:bodyPr rtlCol="0" anchor="ctr" wrap="square">
            <a:noAutofit/>
          </a:bodyPr>
          <a:lstStyle/>
          <a:p>
            <a:pPr algn="ctr"/>
            <a:r>
              <a:rPr sz="1800" b="1" i="0">
                <a:solidFill>
                  <a:srgbClr val="FFFFFF"/>
                </a:solidFill>
                <a:latin typeface="Calibri"/>
              </a:rPr>
              <a:t>I DO: VISUAL MODELS</a:t>
            </a:r>
          </a:p>
        </p:txBody>
      </p:sp>
      <p:sp>
        <p:nvSpPr>
          <p:cNvPr id="4" name="Rounded Rectangle 3"/>
          <p:cNvSpPr/>
          <p:nvPr/>
        </p:nvSpPr>
        <p:spPr>
          <a:xfrm>
            <a:off x="731520" y="1737360"/>
            <a:ext cx="5486400" cy="448056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5" name="TextBox 4"/>
          <p:cNvSpPr txBox="1"/>
          <p:nvPr/>
        </p:nvSpPr>
        <p:spPr>
          <a:xfrm>
            <a:off x="1005840" y="1920240"/>
            <a:ext cx="4937760" cy="411480"/>
          </a:xfrm>
          <a:prstGeom prst="rect">
            <a:avLst/>
          </a:prstGeom>
          <a:noFill/>
        </p:spPr>
        <p:txBody>
          <a:bodyPr wrap="square" anchor="t">
            <a:noAutofit/>
          </a:bodyPr>
          <a:lstStyle/>
          <a:p>
            <a:pPr algn="l"/>
            <a:r>
              <a:rPr sz="2200" b="1" i="0">
                <a:solidFill>
                  <a:srgbClr val="0F294A"/>
                </a:solidFill>
                <a:latin typeface="Calibri"/>
              </a:rPr>
              <a:t>Aligned Fraction Strips (Same Whole)</a:t>
            </a:r>
          </a:p>
        </p:txBody>
      </p:sp>
      <p:sp>
        <p:nvSpPr>
          <p:cNvPr id="6" name="Rectangle 5"/>
          <p:cNvSpPr/>
          <p:nvPr/>
        </p:nvSpPr>
        <p:spPr>
          <a:xfrm>
            <a:off x="2011680" y="2468880"/>
            <a:ext cx="3931920" cy="548640"/>
          </a:xfrm>
          <a:prstGeom prst="rect">
            <a:avLst/>
          </a:prstGeom>
          <a:solidFill>
            <a:srgbClr val="FFFFFF"/>
          </a:solidFill>
          <a:ln w="25400">
            <a:solidFill>
              <a:srgbClr val="475569"/>
            </a:solidFill>
          </a:ln>
        </p:spPr>
        <p:txBody>
          <a:bodyPr rtlCol="0" anchor="ctr"/>
          <a:lstStyle/>
          <a:p>
            <a:pPr algn="ctr"/>
          </a:p>
        </p:txBody>
      </p:sp>
      <p:sp>
        <p:nvSpPr>
          <p:cNvPr id="7" name="Rectangle 6"/>
          <p:cNvSpPr/>
          <p:nvPr/>
        </p:nvSpPr>
        <p:spPr>
          <a:xfrm>
            <a:off x="2011680" y="2468880"/>
            <a:ext cx="3931920" cy="548640"/>
          </a:xfrm>
          <a:prstGeom prst="rect">
            <a:avLst/>
          </a:prstGeom>
          <a:solidFill>
            <a:srgbClr val="94A3B8"/>
          </a:solidFill>
          <a:ln w="25400">
            <a:solidFill>
              <a:srgbClr val="475569"/>
            </a:solidFill>
          </a:ln>
        </p:spPr>
        <p:txBody>
          <a:bodyPr rtlCol="0" anchor="ctr"/>
          <a:lstStyle/>
          <a:p>
            <a:pPr algn="ctr"/>
          </a:p>
        </p:txBody>
      </p:sp>
      <p:sp>
        <p:nvSpPr>
          <p:cNvPr id="8" name="TextBox 7"/>
          <p:cNvSpPr txBox="1"/>
          <p:nvPr/>
        </p:nvSpPr>
        <p:spPr>
          <a:xfrm>
            <a:off x="640080" y="2468880"/>
            <a:ext cx="1280160" cy="548640"/>
          </a:xfrm>
          <a:prstGeom prst="rect">
            <a:avLst/>
          </a:prstGeom>
          <a:noFill/>
        </p:spPr>
        <p:txBody>
          <a:bodyPr wrap="square" anchor="ctr">
            <a:noAutofit/>
          </a:bodyPr>
          <a:lstStyle/>
          <a:p>
            <a:pPr algn="r"/>
            <a:r>
              <a:rPr sz="2000" b="1" i="0">
                <a:solidFill>
                  <a:srgbClr val="1F2937"/>
                </a:solidFill>
                <a:latin typeface="Calibri"/>
              </a:rPr>
              <a:t>1 Whole</a:t>
            </a:r>
          </a:p>
        </p:txBody>
      </p:sp>
      <p:sp>
        <p:nvSpPr>
          <p:cNvPr id="9" name="Rectangle 8"/>
          <p:cNvSpPr/>
          <p:nvPr/>
        </p:nvSpPr>
        <p:spPr>
          <a:xfrm>
            <a:off x="2011680" y="3200400"/>
            <a:ext cx="3931920" cy="548640"/>
          </a:xfrm>
          <a:prstGeom prst="rect">
            <a:avLst/>
          </a:prstGeom>
          <a:solidFill>
            <a:srgbClr val="FFFFFF"/>
          </a:solidFill>
          <a:ln w="25400">
            <a:solidFill>
              <a:srgbClr val="0F294A"/>
            </a:solidFill>
          </a:ln>
        </p:spPr>
        <p:txBody>
          <a:bodyPr rtlCol="0" anchor="ctr"/>
          <a:lstStyle/>
          <a:p>
            <a:pPr algn="ctr"/>
          </a:p>
        </p:txBody>
      </p:sp>
      <p:sp>
        <p:nvSpPr>
          <p:cNvPr id="10" name="Rectangle 9"/>
          <p:cNvSpPr/>
          <p:nvPr/>
        </p:nvSpPr>
        <p:spPr>
          <a:xfrm>
            <a:off x="2011680" y="3200400"/>
            <a:ext cx="1965960" cy="548640"/>
          </a:xfrm>
          <a:prstGeom prst="rect">
            <a:avLst/>
          </a:prstGeom>
          <a:solidFill>
            <a:srgbClr val="1D4ED8"/>
          </a:solidFill>
          <a:ln w="25400">
            <a:solidFill>
              <a:srgbClr val="0F294A"/>
            </a:solidFill>
          </a:ln>
        </p:spPr>
        <p:txBody>
          <a:bodyPr rtlCol="0" anchor="ctr"/>
          <a:lstStyle/>
          <a:p>
            <a:pPr algn="ctr"/>
          </a:p>
        </p:txBody>
      </p:sp>
      <p:cxnSp>
        <p:nvCxnSpPr>
          <p:cNvPr id="11" name="Connector 10"/>
          <p:cNvCxnSpPr/>
          <p:nvPr/>
        </p:nvCxnSpPr>
        <p:spPr>
          <a:xfrm>
            <a:off x="3977639" y="3200400"/>
            <a:ext cx="0" cy="54863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200400"/>
            <a:ext cx="1280160" cy="548640"/>
          </a:xfrm>
          <a:prstGeom prst="rect">
            <a:avLst/>
          </a:prstGeom>
          <a:noFill/>
        </p:spPr>
        <p:txBody>
          <a:bodyPr wrap="square" anchor="ctr">
            <a:noAutofit/>
          </a:bodyPr>
          <a:lstStyle/>
          <a:p>
            <a:pPr algn="r"/>
            <a:r>
              <a:rPr sz="2000" b="1" i="0">
                <a:solidFill>
                  <a:srgbClr val="1F2937"/>
                </a:solidFill>
                <a:latin typeface="Calibri"/>
              </a:rPr>
              <a:t>1/2</a:t>
            </a:r>
          </a:p>
        </p:txBody>
      </p:sp>
      <p:sp>
        <p:nvSpPr>
          <p:cNvPr id="13" name="Rectangle 12"/>
          <p:cNvSpPr/>
          <p:nvPr/>
        </p:nvSpPr>
        <p:spPr>
          <a:xfrm>
            <a:off x="2011680" y="3931920"/>
            <a:ext cx="3931920" cy="548640"/>
          </a:xfrm>
          <a:prstGeom prst="rect">
            <a:avLst/>
          </a:prstGeom>
          <a:solidFill>
            <a:srgbClr val="FFFFFF"/>
          </a:solidFill>
          <a:ln w="25400">
            <a:solidFill>
              <a:srgbClr val="0F294A"/>
            </a:solidFill>
          </a:ln>
        </p:spPr>
        <p:txBody>
          <a:bodyPr rtlCol="0" anchor="ctr"/>
          <a:lstStyle/>
          <a:p>
            <a:pPr algn="ctr"/>
          </a:p>
        </p:txBody>
      </p:sp>
      <p:sp>
        <p:nvSpPr>
          <p:cNvPr id="14" name="Rectangle 13"/>
          <p:cNvSpPr/>
          <p:nvPr/>
        </p:nvSpPr>
        <p:spPr>
          <a:xfrm>
            <a:off x="2011680" y="3931920"/>
            <a:ext cx="1965960" cy="548640"/>
          </a:xfrm>
          <a:prstGeom prst="rect">
            <a:avLst/>
          </a:prstGeom>
          <a:solidFill>
            <a:srgbClr val="1D4ED8"/>
          </a:solidFill>
          <a:ln w="25400">
            <a:solidFill>
              <a:srgbClr val="0F294A"/>
            </a:solidFill>
          </a:ln>
        </p:spPr>
        <p:txBody>
          <a:bodyPr rtlCol="0" anchor="ctr"/>
          <a:lstStyle/>
          <a:p>
            <a:pPr algn="ctr"/>
          </a:p>
        </p:txBody>
      </p:sp>
      <p:cxnSp>
        <p:nvCxnSpPr>
          <p:cNvPr id="15" name="Connector 14"/>
          <p:cNvCxnSpPr/>
          <p:nvPr/>
        </p:nvCxnSpPr>
        <p:spPr>
          <a:xfrm>
            <a:off x="2994660" y="3931920"/>
            <a:ext cx="0" cy="54863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977639" y="3931920"/>
            <a:ext cx="0" cy="54863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960620" y="3931920"/>
            <a:ext cx="0" cy="54863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3931920"/>
            <a:ext cx="1280160" cy="548640"/>
          </a:xfrm>
          <a:prstGeom prst="rect">
            <a:avLst/>
          </a:prstGeom>
          <a:noFill/>
        </p:spPr>
        <p:txBody>
          <a:bodyPr wrap="square" anchor="ctr">
            <a:noAutofit/>
          </a:bodyPr>
          <a:lstStyle/>
          <a:p>
            <a:pPr algn="r"/>
            <a:r>
              <a:rPr sz="2000" b="1" i="0">
                <a:solidFill>
                  <a:srgbClr val="1F2937"/>
                </a:solidFill>
                <a:latin typeface="Calibri"/>
              </a:rPr>
              <a:t>2/4</a:t>
            </a:r>
          </a:p>
        </p:txBody>
      </p:sp>
      <p:sp>
        <p:nvSpPr>
          <p:cNvPr id="19" name="Rectangle 18"/>
          <p:cNvSpPr/>
          <p:nvPr/>
        </p:nvSpPr>
        <p:spPr>
          <a:xfrm>
            <a:off x="2011680" y="4663440"/>
            <a:ext cx="3931920" cy="548640"/>
          </a:xfrm>
          <a:prstGeom prst="rect">
            <a:avLst/>
          </a:prstGeom>
          <a:solidFill>
            <a:srgbClr val="FFFFFF"/>
          </a:solidFill>
          <a:ln w="25400">
            <a:solidFill>
              <a:srgbClr val="0F294A"/>
            </a:solidFill>
          </a:ln>
        </p:spPr>
        <p:txBody>
          <a:bodyPr rtlCol="0" anchor="ctr"/>
          <a:lstStyle/>
          <a:p>
            <a:pPr algn="ctr"/>
          </a:p>
        </p:txBody>
      </p:sp>
      <p:sp>
        <p:nvSpPr>
          <p:cNvPr id="20" name="Rectangle 19"/>
          <p:cNvSpPr/>
          <p:nvPr/>
        </p:nvSpPr>
        <p:spPr>
          <a:xfrm>
            <a:off x="2011680" y="4663440"/>
            <a:ext cx="1965960" cy="548640"/>
          </a:xfrm>
          <a:prstGeom prst="rect">
            <a:avLst/>
          </a:prstGeom>
          <a:solidFill>
            <a:srgbClr val="1D4ED8"/>
          </a:solidFill>
          <a:ln w="25400">
            <a:solidFill>
              <a:srgbClr val="0F294A"/>
            </a:solidFill>
          </a:ln>
        </p:spPr>
        <p:txBody>
          <a:bodyPr rtlCol="0" anchor="ctr"/>
          <a:lstStyle/>
          <a:p>
            <a:pPr algn="ctr"/>
          </a:p>
        </p:txBody>
      </p:sp>
      <p:cxnSp>
        <p:nvCxnSpPr>
          <p:cNvPr id="21" name="Connector 20"/>
          <p:cNvCxnSpPr/>
          <p:nvPr/>
        </p:nvCxnSpPr>
        <p:spPr>
          <a:xfrm>
            <a:off x="2503170" y="4663440"/>
            <a:ext cx="0" cy="54863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94660" y="4663440"/>
            <a:ext cx="0" cy="54863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486150" y="4663440"/>
            <a:ext cx="0" cy="54863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977639" y="4663440"/>
            <a:ext cx="0" cy="54863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69130" y="4663440"/>
            <a:ext cx="0" cy="54863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960620" y="4663440"/>
            <a:ext cx="0" cy="54863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52110" y="4663440"/>
            <a:ext cx="0" cy="54863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 y="4663440"/>
            <a:ext cx="1280160" cy="548640"/>
          </a:xfrm>
          <a:prstGeom prst="rect">
            <a:avLst/>
          </a:prstGeom>
          <a:noFill/>
        </p:spPr>
        <p:txBody>
          <a:bodyPr wrap="square" anchor="ctr">
            <a:noAutofit/>
          </a:bodyPr>
          <a:lstStyle/>
          <a:p>
            <a:pPr algn="r"/>
            <a:r>
              <a:rPr sz="2000" b="1" i="0">
                <a:solidFill>
                  <a:srgbClr val="1F2937"/>
                </a:solidFill>
                <a:latin typeface="Calibri"/>
              </a:rPr>
              <a:t>4/8</a:t>
            </a:r>
          </a:p>
        </p:txBody>
      </p:sp>
      <p:sp>
        <p:nvSpPr>
          <p:cNvPr id="29" name="Rounded Rectangle 28"/>
          <p:cNvSpPr/>
          <p:nvPr/>
        </p:nvSpPr>
        <p:spPr>
          <a:xfrm>
            <a:off x="1005840" y="5394960"/>
            <a:ext cx="4937760" cy="640080"/>
          </a:xfrm>
          <a:prstGeom prst="roundRect">
            <a:avLst>
              <a:gd name="adj" fmla="val 10000"/>
            </a:avLst>
          </a:prstGeom>
          <a:solidFill>
            <a:srgbClr val="EFF6FF"/>
          </a:solidFill>
          <a:ln>
            <a:noFill/>
          </a:ln>
        </p:spPr>
        <p:txBody>
          <a:bodyPr rtlCol="0" anchor="ctr" wrap="square">
            <a:noAutofit/>
          </a:bodyPr>
          <a:lstStyle/>
          <a:p>
            <a:pPr algn="ctr"/>
            <a:r>
              <a:rPr sz="2000" b="1" i="0">
                <a:solidFill>
                  <a:srgbClr val="1D4ED8"/>
                </a:solidFill>
                <a:latin typeface="Calibri"/>
              </a:rPr>
              <a:t>1/2 = 2/4 = 4/8</a:t>
            </a:r>
            <a:r>
              <a:rPr sz="2000" b="0" i="0">
                <a:solidFill>
                  <a:srgbClr val="1D4ED8"/>
                </a:solidFill>
                <a:latin typeface="Calibri"/>
              </a:rPr>
              <a:t> (Same Shaded Length!)</a:t>
            </a:r>
          </a:p>
        </p:txBody>
      </p:sp>
      <p:sp>
        <p:nvSpPr>
          <p:cNvPr id="30" name="Rounded Rectangle 29"/>
          <p:cNvSpPr/>
          <p:nvPr/>
        </p:nvSpPr>
        <p:spPr>
          <a:xfrm>
            <a:off x="6492240" y="1737360"/>
            <a:ext cx="4937760" cy="4480560"/>
          </a:xfrm>
          <a:prstGeom prst="roundRect">
            <a:avLst>
              <a:gd name="adj" fmla="val 8000"/>
            </a:avLst>
          </a:prstGeom>
          <a:solidFill>
            <a:srgbClr val="EFF6FF"/>
          </a:solidFill>
          <a:ln w="19050">
            <a:solidFill>
              <a:srgbClr val="BFDBFE"/>
            </a:solidFill>
          </a:ln>
        </p:spPr>
        <p:txBody>
          <a:bodyPr rtlCol="0" anchor="ctr"/>
          <a:lstStyle/>
          <a:p>
            <a:pPr algn="ctr"/>
          </a:p>
        </p:txBody>
      </p:sp>
      <p:sp>
        <p:nvSpPr>
          <p:cNvPr id="31" name="TextBox 30"/>
          <p:cNvSpPr txBox="1"/>
          <p:nvPr/>
        </p:nvSpPr>
        <p:spPr>
          <a:xfrm>
            <a:off x="6766560" y="1920240"/>
            <a:ext cx="4389120" cy="411480"/>
          </a:xfrm>
          <a:prstGeom prst="rect">
            <a:avLst/>
          </a:prstGeom>
          <a:noFill/>
        </p:spPr>
        <p:txBody>
          <a:bodyPr wrap="square" anchor="t">
            <a:noAutofit/>
          </a:bodyPr>
          <a:lstStyle/>
          <a:p>
            <a:pPr algn="l"/>
            <a:r>
              <a:rPr sz="2400" b="1" i="0">
                <a:solidFill>
                  <a:srgbClr val="1D4ED8"/>
                </a:solidFill>
                <a:latin typeface="Calibri"/>
              </a:rPr>
              <a:t>What Do You Notice?</a:t>
            </a:r>
          </a:p>
        </p:txBody>
      </p:sp>
      <p:sp>
        <p:nvSpPr>
          <p:cNvPr id="32" name="TextBox 31"/>
          <p:cNvSpPr txBox="1"/>
          <p:nvPr/>
        </p:nvSpPr>
        <p:spPr>
          <a:xfrm>
            <a:off x="6766560" y="2468880"/>
            <a:ext cx="4389120" cy="3474720"/>
          </a:xfrm>
          <a:prstGeom prst="rect">
            <a:avLst/>
          </a:prstGeom>
          <a:noFill/>
        </p:spPr>
        <p:txBody>
          <a:bodyPr wrap="square" anchor="t">
            <a:noAutofit/>
          </a:bodyPr>
          <a:lstStyle/>
          <a:p>
            <a:pPr algn="l" marL="304800" indent="-304800">
              <a:spcAft>
                <a:spcPts val="700"/>
              </a:spcAft>
              <a:buFont typeface="Arial"/>
              <a:buChar char="•"/>
            </a:pPr>
            <a:r>
              <a:rPr sz="2000" b="1" i="0">
                <a:solidFill>
                  <a:srgbClr val="1F2937"/>
                </a:solidFill>
                <a:latin typeface="Calibri"/>
              </a:rPr>
              <a:t>Same Length:</a:t>
            </a:r>
            <a:r>
              <a:rPr sz="2000" b="0" i="0">
                <a:solidFill>
                  <a:srgbClr val="1F2937"/>
                </a:solidFill>
                <a:latin typeface="Calibri"/>
              </a:rPr>
              <a:t> All three colored sections stop at the exact same vertical line [6].</a:t>
            </a:r>
          </a:p>
          <a:p>
            <a:pPr algn="l" marL="304800" indent="-304800">
              <a:spcAft>
                <a:spcPts val="700"/>
              </a:spcAft>
              <a:buFont typeface="Arial"/>
              <a:buChar char="•"/>
            </a:pPr>
            <a:r>
              <a:rPr sz="2000" b="1" i="0">
                <a:solidFill>
                  <a:srgbClr val="1F2937"/>
                </a:solidFill>
                <a:latin typeface="Calibri"/>
              </a:rPr>
              <a:t>Piece Size Changes:</a:t>
            </a:r>
            <a:r>
              <a:rPr sz="2000" b="0" i="0">
                <a:solidFill>
                  <a:srgbClr val="1F2937"/>
                </a:solidFill>
                <a:latin typeface="Calibri"/>
              </a:rPr>
              <a:t> As the denominator increases, each individual piece gets </a:t>
            </a:r>
            <a:r>
              <a:rPr sz="2000" b="1" i="0">
                <a:solidFill>
                  <a:srgbClr val="1F2937"/>
                </a:solidFill>
                <a:latin typeface="Calibri"/>
              </a:rPr>
              <a:t>smaller</a:t>
            </a:r>
            <a:r>
              <a:rPr sz="2000" b="0" i="0">
                <a:solidFill>
                  <a:srgbClr val="1F2937"/>
                </a:solidFill>
                <a:latin typeface="Calibri"/>
              </a:rPr>
              <a:t> [1].</a:t>
            </a:r>
          </a:p>
          <a:p>
            <a:pPr algn="l" marL="304800" indent="-304800">
              <a:spcAft>
                <a:spcPts val="700"/>
              </a:spcAft>
              <a:buFont typeface="Arial"/>
              <a:buChar char="•"/>
            </a:pPr>
            <a:r>
              <a:rPr sz="2000" b="1" i="0">
                <a:solidFill>
                  <a:srgbClr val="1F2937"/>
                </a:solidFill>
                <a:latin typeface="Calibri"/>
              </a:rPr>
              <a:t>Part Count Changes:</a:t>
            </a:r>
            <a:r>
              <a:rPr sz="2000" b="0" i="0">
                <a:solidFill>
                  <a:srgbClr val="1F2937"/>
                </a:solidFill>
                <a:latin typeface="Calibri"/>
              </a:rPr>
              <a:t> Because each piece is smaller, you need </a:t>
            </a:r>
            <a:r>
              <a:rPr sz="2000" b="1" i="0">
                <a:solidFill>
                  <a:srgbClr val="1F2937"/>
                </a:solidFill>
                <a:latin typeface="Calibri"/>
              </a:rPr>
              <a:t>more pieces</a:t>
            </a:r>
            <a:r>
              <a:rPr sz="2000" b="0" i="0">
                <a:solidFill>
                  <a:srgbClr val="1F2937"/>
                </a:solidFill>
                <a:latin typeface="Calibri"/>
              </a:rPr>
              <a:t> to cover the same length.</a:t>
            </a:r>
          </a:p>
          <a:p>
            <a:pPr algn="l" marL="304800" indent="-304800">
              <a:buFont typeface="Arial"/>
              <a:buChar char="•"/>
            </a:pPr>
            <a:r>
              <a:rPr sz="2000" b="0" i="0">
                <a:solidFill>
                  <a:srgbClr val="1F2937"/>
                </a:solidFill>
                <a:latin typeface="Calibri"/>
              </a:rPr>
              <a:t>1 big piece (1/2) = 2 medium pieces (2/4) = 4 small pieces (4/8).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365760"/>
            <a:ext cx="10698480" cy="731520"/>
          </a:xfrm>
        </p:spPr>
        <p:txBody>
          <a:bodyPr wrap="square" anchor="ctr">
            <a:noAutofit/>
          </a:bodyPr>
          <a:lstStyle/>
          <a:p>
            <a:pPr algn="l"/>
            <a:r>
              <a:rPr sz="3600" b="1" i="0">
                <a:solidFill>
                  <a:srgbClr val="1F2937"/>
                </a:solidFill>
                <a:latin typeface="Calibri"/>
              </a:rPr>
              <a:t>Model 2: Area Models &amp; Subdividing</a:t>
            </a:r>
          </a:p>
        </p:txBody>
      </p:sp>
      <p:sp>
        <p:nvSpPr>
          <p:cNvPr id="3" name="Rounded Rectangle 2"/>
          <p:cNvSpPr/>
          <p:nvPr/>
        </p:nvSpPr>
        <p:spPr>
          <a:xfrm>
            <a:off x="731520" y="1188720"/>
            <a:ext cx="2926080" cy="502920"/>
          </a:xfrm>
          <a:prstGeom prst="roundRect">
            <a:avLst>
              <a:gd name="adj" fmla="val 50000"/>
            </a:avLst>
          </a:prstGeom>
          <a:solidFill>
            <a:srgbClr val="1D4ED8"/>
          </a:solidFill>
          <a:ln>
            <a:noFill/>
          </a:ln>
        </p:spPr>
        <p:txBody>
          <a:bodyPr rtlCol="0" anchor="ctr" wrap="square">
            <a:noAutofit/>
          </a:bodyPr>
          <a:lstStyle/>
          <a:p>
            <a:pPr algn="ctr"/>
            <a:r>
              <a:rPr sz="1800" b="1" i="0">
                <a:solidFill>
                  <a:srgbClr val="FFFFFF"/>
                </a:solidFill>
                <a:latin typeface="Calibri"/>
              </a:rPr>
              <a:t>I DO: AREA MODELS</a:t>
            </a:r>
          </a:p>
        </p:txBody>
      </p:sp>
      <p:sp>
        <p:nvSpPr>
          <p:cNvPr id="4" name="Rounded Rectangle 3"/>
          <p:cNvSpPr/>
          <p:nvPr/>
        </p:nvSpPr>
        <p:spPr>
          <a:xfrm>
            <a:off x="731520" y="1737360"/>
            <a:ext cx="3291840" cy="301752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5" name="TextBox 4"/>
          <p:cNvSpPr txBox="1"/>
          <p:nvPr/>
        </p:nvSpPr>
        <p:spPr>
          <a:xfrm>
            <a:off x="914400" y="1874519"/>
            <a:ext cx="2926080" cy="365760"/>
          </a:xfrm>
          <a:prstGeom prst="rect">
            <a:avLst/>
          </a:prstGeom>
          <a:noFill/>
        </p:spPr>
        <p:txBody>
          <a:bodyPr wrap="square" anchor="t">
            <a:noAutofit/>
          </a:bodyPr>
          <a:lstStyle/>
          <a:p>
            <a:pPr algn="ctr"/>
            <a:r>
              <a:rPr sz="2000" b="1" i="0">
                <a:solidFill>
                  <a:srgbClr val="0F294A"/>
                </a:solidFill>
                <a:latin typeface="Calibri"/>
              </a:rPr>
              <a:t>Step 1: Start with 2/3</a:t>
            </a:r>
          </a:p>
        </p:txBody>
      </p:sp>
      <p:sp>
        <p:nvSpPr>
          <p:cNvPr id="6" name="Rectangle 5"/>
          <p:cNvSpPr/>
          <p:nvPr/>
        </p:nvSpPr>
        <p:spPr>
          <a:xfrm>
            <a:off x="1188720" y="2331720"/>
            <a:ext cx="2377440" cy="1645920"/>
          </a:xfrm>
          <a:prstGeom prst="rect">
            <a:avLst/>
          </a:prstGeom>
          <a:solidFill>
            <a:srgbClr val="FFFFFF"/>
          </a:solidFill>
          <a:ln w="25400">
            <a:solidFill>
              <a:srgbClr val="0F294A"/>
            </a:solidFill>
          </a:ln>
        </p:spPr>
        <p:txBody>
          <a:bodyPr rtlCol="0" anchor="ctr"/>
          <a:lstStyle/>
          <a:p>
            <a:pPr algn="ctr"/>
          </a:p>
        </p:txBody>
      </p:sp>
      <p:sp>
        <p:nvSpPr>
          <p:cNvPr id="7" name="Rectangle 6"/>
          <p:cNvSpPr/>
          <p:nvPr/>
        </p:nvSpPr>
        <p:spPr>
          <a:xfrm>
            <a:off x="1188720" y="2331720"/>
            <a:ext cx="792480" cy="1645920"/>
          </a:xfrm>
          <a:prstGeom prst="rect">
            <a:avLst/>
          </a:prstGeom>
          <a:solidFill>
            <a:srgbClr val="1D4ED8"/>
          </a:solidFill>
          <a:ln w="15240">
            <a:solidFill>
              <a:srgbClr val="0F294A"/>
            </a:solidFill>
          </a:ln>
        </p:spPr>
        <p:txBody>
          <a:bodyPr rtlCol="0" anchor="ctr"/>
          <a:lstStyle/>
          <a:p>
            <a:pPr algn="ctr"/>
          </a:p>
        </p:txBody>
      </p:sp>
      <p:sp>
        <p:nvSpPr>
          <p:cNvPr id="8" name="Rectangle 7"/>
          <p:cNvSpPr/>
          <p:nvPr/>
        </p:nvSpPr>
        <p:spPr>
          <a:xfrm>
            <a:off x="1981200" y="2331720"/>
            <a:ext cx="792480" cy="1645920"/>
          </a:xfrm>
          <a:prstGeom prst="rect">
            <a:avLst/>
          </a:prstGeom>
          <a:solidFill>
            <a:srgbClr val="1D4ED8"/>
          </a:solidFill>
          <a:ln w="15240">
            <a:solidFill>
              <a:srgbClr val="0F294A"/>
            </a:solidFill>
          </a:ln>
        </p:spPr>
        <p:txBody>
          <a:bodyPr rtlCol="0" anchor="ctr"/>
          <a:lstStyle/>
          <a:p>
            <a:pPr algn="ctr"/>
          </a:p>
        </p:txBody>
      </p:sp>
      <p:cxnSp>
        <p:nvCxnSpPr>
          <p:cNvPr id="9" name="Connector 8"/>
          <p:cNvCxnSpPr/>
          <p:nvPr/>
        </p:nvCxnSpPr>
        <p:spPr>
          <a:xfrm>
            <a:off x="1981200" y="2331720"/>
            <a:ext cx="0" cy="164591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773680" y="2331720"/>
            <a:ext cx="0" cy="164591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4114800"/>
            <a:ext cx="2926080" cy="411480"/>
          </a:xfrm>
          <a:prstGeom prst="rect">
            <a:avLst/>
          </a:prstGeom>
          <a:noFill/>
        </p:spPr>
        <p:txBody>
          <a:bodyPr wrap="square" anchor="t">
            <a:noAutofit/>
          </a:bodyPr>
          <a:lstStyle/>
          <a:p>
            <a:pPr algn="ctr"/>
            <a:r>
              <a:rPr sz="1800" b="1" i="0">
                <a:solidFill>
                  <a:srgbClr val="1D4ED8"/>
                </a:solidFill>
                <a:latin typeface="Calibri"/>
              </a:rPr>
              <a:t>2 out of 3 parts shaded</a:t>
            </a:r>
          </a:p>
        </p:txBody>
      </p:sp>
      <p:sp>
        <p:nvSpPr>
          <p:cNvPr id="12" name="Rounded Rectangle 11"/>
          <p:cNvSpPr/>
          <p:nvPr/>
        </p:nvSpPr>
        <p:spPr>
          <a:xfrm>
            <a:off x="4434840" y="1737360"/>
            <a:ext cx="3291840" cy="301752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13" name="TextBox 12"/>
          <p:cNvSpPr txBox="1"/>
          <p:nvPr/>
        </p:nvSpPr>
        <p:spPr>
          <a:xfrm>
            <a:off x="4617720" y="1874519"/>
            <a:ext cx="2926080" cy="365760"/>
          </a:xfrm>
          <a:prstGeom prst="rect">
            <a:avLst/>
          </a:prstGeom>
          <a:noFill/>
        </p:spPr>
        <p:txBody>
          <a:bodyPr wrap="square" anchor="t">
            <a:noAutofit/>
          </a:bodyPr>
          <a:lstStyle/>
          <a:p>
            <a:pPr algn="ctr"/>
            <a:r>
              <a:rPr sz="2000" b="1" i="0">
                <a:solidFill>
                  <a:srgbClr val="0F294A"/>
                </a:solidFill>
                <a:latin typeface="Calibri"/>
              </a:rPr>
              <a:t>Step 2: Slice Horizontally</a:t>
            </a:r>
          </a:p>
        </p:txBody>
      </p:sp>
      <p:sp>
        <p:nvSpPr>
          <p:cNvPr id="14" name="Rectangle 13"/>
          <p:cNvSpPr/>
          <p:nvPr/>
        </p:nvSpPr>
        <p:spPr>
          <a:xfrm>
            <a:off x="4892040" y="2331720"/>
            <a:ext cx="2377440" cy="1645920"/>
          </a:xfrm>
          <a:prstGeom prst="rect">
            <a:avLst/>
          </a:prstGeom>
          <a:solidFill>
            <a:srgbClr val="FFFFFF"/>
          </a:solidFill>
          <a:ln w="25400">
            <a:solidFill>
              <a:srgbClr val="0F294A"/>
            </a:solidFill>
          </a:ln>
        </p:spPr>
        <p:txBody>
          <a:bodyPr rtlCol="0" anchor="ctr"/>
          <a:lstStyle/>
          <a:p>
            <a:pPr algn="ctr"/>
          </a:p>
        </p:txBody>
      </p:sp>
      <p:sp>
        <p:nvSpPr>
          <p:cNvPr id="15" name="Rectangle 14"/>
          <p:cNvSpPr/>
          <p:nvPr/>
        </p:nvSpPr>
        <p:spPr>
          <a:xfrm>
            <a:off x="4892040" y="2331720"/>
            <a:ext cx="792480" cy="822960"/>
          </a:xfrm>
          <a:prstGeom prst="rect">
            <a:avLst/>
          </a:prstGeom>
          <a:solidFill>
            <a:srgbClr val="1D4ED8"/>
          </a:solidFill>
          <a:ln w="15240">
            <a:solidFill>
              <a:srgbClr val="0F294A"/>
            </a:solidFill>
          </a:ln>
        </p:spPr>
        <p:txBody>
          <a:bodyPr rtlCol="0" anchor="ctr"/>
          <a:lstStyle/>
          <a:p>
            <a:pPr algn="ctr"/>
          </a:p>
        </p:txBody>
      </p:sp>
      <p:sp>
        <p:nvSpPr>
          <p:cNvPr id="16" name="Rectangle 15"/>
          <p:cNvSpPr/>
          <p:nvPr/>
        </p:nvSpPr>
        <p:spPr>
          <a:xfrm>
            <a:off x="5684520" y="2331720"/>
            <a:ext cx="792480" cy="822960"/>
          </a:xfrm>
          <a:prstGeom prst="rect">
            <a:avLst/>
          </a:prstGeom>
          <a:solidFill>
            <a:srgbClr val="1D4ED8"/>
          </a:solidFill>
          <a:ln w="15240">
            <a:solidFill>
              <a:srgbClr val="0F294A"/>
            </a:solidFill>
          </a:ln>
        </p:spPr>
        <p:txBody>
          <a:bodyPr rtlCol="0" anchor="ctr"/>
          <a:lstStyle/>
          <a:p>
            <a:pPr algn="ctr"/>
          </a:p>
        </p:txBody>
      </p:sp>
      <p:sp>
        <p:nvSpPr>
          <p:cNvPr id="17" name="Rectangle 16"/>
          <p:cNvSpPr/>
          <p:nvPr/>
        </p:nvSpPr>
        <p:spPr>
          <a:xfrm>
            <a:off x="6477000" y="2331720"/>
            <a:ext cx="792480" cy="822960"/>
          </a:xfrm>
          <a:prstGeom prst="rect">
            <a:avLst/>
          </a:prstGeom>
          <a:solidFill>
            <a:srgbClr val="1D4ED8"/>
          </a:solidFill>
          <a:ln w="15240">
            <a:solidFill>
              <a:srgbClr val="0F294A"/>
            </a:solidFill>
          </a:ln>
        </p:spPr>
        <p:txBody>
          <a:bodyPr rtlCol="0" anchor="ctr"/>
          <a:lstStyle/>
          <a:p>
            <a:pPr algn="ctr"/>
          </a:p>
        </p:txBody>
      </p:sp>
      <p:sp>
        <p:nvSpPr>
          <p:cNvPr id="18" name="Rectangle 17"/>
          <p:cNvSpPr/>
          <p:nvPr/>
        </p:nvSpPr>
        <p:spPr>
          <a:xfrm>
            <a:off x="4892040" y="3154679"/>
            <a:ext cx="792480" cy="822960"/>
          </a:xfrm>
          <a:prstGeom prst="rect">
            <a:avLst/>
          </a:prstGeom>
          <a:solidFill>
            <a:srgbClr val="1D4ED8"/>
          </a:solidFill>
          <a:ln w="15240">
            <a:solidFill>
              <a:srgbClr val="0F294A"/>
            </a:solidFill>
          </a:ln>
        </p:spPr>
        <p:txBody>
          <a:bodyPr rtlCol="0" anchor="ctr"/>
          <a:lstStyle/>
          <a:p>
            <a:pPr algn="ctr"/>
          </a:p>
        </p:txBody>
      </p:sp>
      <p:cxnSp>
        <p:nvCxnSpPr>
          <p:cNvPr id="19" name="Connector 18"/>
          <p:cNvCxnSpPr/>
          <p:nvPr/>
        </p:nvCxnSpPr>
        <p:spPr>
          <a:xfrm>
            <a:off x="4892040" y="3154679"/>
            <a:ext cx="2377439" cy="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684520" y="2331720"/>
            <a:ext cx="0" cy="164591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77000" y="2331720"/>
            <a:ext cx="0" cy="164591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617720" y="4114800"/>
            <a:ext cx="2926080" cy="411480"/>
          </a:xfrm>
          <a:prstGeom prst="rect">
            <a:avLst/>
          </a:prstGeom>
          <a:noFill/>
        </p:spPr>
        <p:txBody>
          <a:bodyPr wrap="square" anchor="t">
            <a:noAutofit/>
          </a:bodyPr>
          <a:lstStyle/>
          <a:p>
            <a:pPr algn="ctr"/>
            <a:r>
              <a:rPr sz="1800" b="1" i="0">
                <a:solidFill>
                  <a:srgbClr val="1D4ED8"/>
                </a:solidFill>
                <a:latin typeface="Calibri"/>
              </a:rPr>
              <a:t>Now 4 out of 6 shaded</a:t>
            </a:r>
          </a:p>
        </p:txBody>
      </p:sp>
      <p:sp>
        <p:nvSpPr>
          <p:cNvPr id="23" name="Rounded Rectangle 22"/>
          <p:cNvSpPr/>
          <p:nvPr/>
        </p:nvSpPr>
        <p:spPr>
          <a:xfrm>
            <a:off x="8138160" y="1737360"/>
            <a:ext cx="3291840" cy="301752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24" name="TextBox 23"/>
          <p:cNvSpPr txBox="1"/>
          <p:nvPr/>
        </p:nvSpPr>
        <p:spPr>
          <a:xfrm>
            <a:off x="8321040" y="1874519"/>
            <a:ext cx="2926080" cy="365760"/>
          </a:xfrm>
          <a:prstGeom prst="rect">
            <a:avLst/>
          </a:prstGeom>
          <a:noFill/>
        </p:spPr>
        <p:txBody>
          <a:bodyPr wrap="square" anchor="t">
            <a:noAutofit/>
          </a:bodyPr>
          <a:lstStyle/>
          <a:p>
            <a:pPr algn="ctr"/>
            <a:r>
              <a:rPr sz="2000" b="1" i="0">
                <a:solidFill>
                  <a:srgbClr val="0F294A"/>
                </a:solidFill>
                <a:latin typeface="Calibri"/>
              </a:rPr>
              <a:t>Step 3: Slice Again</a:t>
            </a:r>
          </a:p>
        </p:txBody>
      </p:sp>
      <p:sp>
        <p:nvSpPr>
          <p:cNvPr id="25" name="Rectangle 24"/>
          <p:cNvSpPr/>
          <p:nvPr/>
        </p:nvSpPr>
        <p:spPr>
          <a:xfrm>
            <a:off x="8595360" y="2331720"/>
            <a:ext cx="2377440" cy="1645920"/>
          </a:xfrm>
          <a:prstGeom prst="rect">
            <a:avLst/>
          </a:prstGeom>
          <a:solidFill>
            <a:srgbClr val="FFFFFF"/>
          </a:solidFill>
          <a:ln w="25400">
            <a:solidFill>
              <a:srgbClr val="0F294A"/>
            </a:solidFill>
          </a:ln>
        </p:spPr>
        <p:txBody>
          <a:bodyPr rtlCol="0" anchor="ctr"/>
          <a:lstStyle/>
          <a:p>
            <a:pPr algn="ctr"/>
          </a:p>
        </p:txBody>
      </p:sp>
      <p:sp>
        <p:nvSpPr>
          <p:cNvPr id="26" name="Rectangle 25"/>
          <p:cNvSpPr/>
          <p:nvPr/>
        </p:nvSpPr>
        <p:spPr>
          <a:xfrm>
            <a:off x="8595360" y="2331720"/>
            <a:ext cx="792480" cy="411480"/>
          </a:xfrm>
          <a:prstGeom prst="rect">
            <a:avLst/>
          </a:prstGeom>
          <a:solidFill>
            <a:srgbClr val="1D4ED8"/>
          </a:solidFill>
          <a:ln w="15240">
            <a:solidFill>
              <a:srgbClr val="0F294A"/>
            </a:solidFill>
          </a:ln>
        </p:spPr>
        <p:txBody>
          <a:bodyPr rtlCol="0" anchor="ctr"/>
          <a:lstStyle/>
          <a:p>
            <a:pPr algn="ctr"/>
          </a:p>
        </p:txBody>
      </p:sp>
      <p:sp>
        <p:nvSpPr>
          <p:cNvPr id="27" name="Rectangle 26"/>
          <p:cNvSpPr/>
          <p:nvPr/>
        </p:nvSpPr>
        <p:spPr>
          <a:xfrm>
            <a:off x="9387840" y="2331720"/>
            <a:ext cx="792480" cy="411480"/>
          </a:xfrm>
          <a:prstGeom prst="rect">
            <a:avLst/>
          </a:prstGeom>
          <a:solidFill>
            <a:srgbClr val="1D4ED8"/>
          </a:solidFill>
          <a:ln w="15240">
            <a:solidFill>
              <a:srgbClr val="0F294A"/>
            </a:solidFill>
          </a:ln>
        </p:spPr>
        <p:txBody>
          <a:bodyPr rtlCol="0" anchor="ctr"/>
          <a:lstStyle/>
          <a:p>
            <a:pPr algn="ctr"/>
          </a:p>
        </p:txBody>
      </p:sp>
      <p:sp>
        <p:nvSpPr>
          <p:cNvPr id="28" name="Rectangle 27"/>
          <p:cNvSpPr/>
          <p:nvPr/>
        </p:nvSpPr>
        <p:spPr>
          <a:xfrm>
            <a:off x="10180320" y="2331720"/>
            <a:ext cx="792480" cy="411480"/>
          </a:xfrm>
          <a:prstGeom prst="rect">
            <a:avLst/>
          </a:prstGeom>
          <a:solidFill>
            <a:srgbClr val="1D4ED8"/>
          </a:solidFill>
          <a:ln w="15240">
            <a:solidFill>
              <a:srgbClr val="0F294A"/>
            </a:solidFill>
          </a:ln>
        </p:spPr>
        <p:txBody>
          <a:bodyPr rtlCol="0" anchor="ctr"/>
          <a:lstStyle/>
          <a:p>
            <a:pPr algn="ctr"/>
          </a:p>
        </p:txBody>
      </p:sp>
      <p:sp>
        <p:nvSpPr>
          <p:cNvPr id="29" name="Rectangle 28"/>
          <p:cNvSpPr/>
          <p:nvPr/>
        </p:nvSpPr>
        <p:spPr>
          <a:xfrm>
            <a:off x="8595360" y="2743200"/>
            <a:ext cx="792480" cy="411480"/>
          </a:xfrm>
          <a:prstGeom prst="rect">
            <a:avLst/>
          </a:prstGeom>
          <a:solidFill>
            <a:srgbClr val="1D4ED8"/>
          </a:solidFill>
          <a:ln w="15240">
            <a:solidFill>
              <a:srgbClr val="0F294A"/>
            </a:solidFill>
          </a:ln>
        </p:spPr>
        <p:txBody>
          <a:bodyPr rtlCol="0" anchor="ctr"/>
          <a:lstStyle/>
          <a:p>
            <a:pPr algn="ctr"/>
          </a:p>
        </p:txBody>
      </p:sp>
      <p:sp>
        <p:nvSpPr>
          <p:cNvPr id="30" name="Rectangle 29"/>
          <p:cNvSpPr/>
          <p:nvPr/>
        </p:nvSpPr>
        <p:spPr>
          <a:xfrm>
            <a:off x="9387840" y="2743200"/>
            <a:ext cx="792480" cy="411480"/>
          </a:xfrm>
          <a:prstGeom prst="rect">
            <a:avLst/>
          </a:prstGeom>
          <a:solidFill>
            <a:srgbClr val="1D4ED8"/>
          </a:solidFill>
          <a:ln w="15240">
            <a:solidFill>
              <a:srgbClr val="0F294A"/>
            </a:solidFill>
          </a:ln>
        </p:spPr>
        <p:txBody>
          <a:bodyPr rtlCol="0" anchor="ctr"/>
          <a:lstStyle/>
          <a:p>
            <a:pPr algn="ctr"/>
          </a:p>
        </p:txBody>
      </p:sp>
      <p:sp>
        <p:nvSpPr>
          <p:cNvPr id="31" name="Rectangle 30"/>
          <p:cNvSpPr/>
          <p:nvPr/>
        </p:nvSpPr>
        <p:spPr>
          <a:xfrm>
            <a:off x="10180320" y="2743200"/>
            <a:ext cx="792480" cy="411480"/>
          </a:xfrm>
          <a:prstGeom prst="rect">
            <a:avLst/>
          </a:prstGeom>
          <a:solidFill>
            <a:srgbClr val="1D4ED8"/>
          </a:solidFill>
          <a:ln w="15240">
            <a:solidFill>
              <a:srgbClr val="0F294A"/>
            </a:solidFill>
          </a:ln>
        </p:spPr>
        <p:txBody>
          <a:bodyPr rtlCol="0" anchor="ctr"/>
          <a:lstStyle/>
          <a:p>
            <a:pPr algn="ctr"/>
          </a:p>
        </p:txBody>
      </p:sp>
      <p:sp>
        <p:nvSpPr>
          <p:cNvPr id="32" name="Rectangle 31"/>
          <p:cNvSpPr/>
          <p:nvPr/>
        </p:nvSpPr>
        <p:spPr>
          <a:xfrm>
            <a:off x="8595360" y="3154679"/>
            <a:ext cx="792480" cy="411480"/>
          </a:xfrm>
          <a:prstGeom prst="rect">
            <a:avLst/>
          </a:prstGeom>
          <a:solidFill>
            <a:srgbClr val="1D4ED8"/>
          </a:solidFill>
          <a:ln w="15240">
            <a:solidFill>
              <a:srgbClr val="0F294A"/>
            </a:solidFill>
          </a:ln>
        </p:spPr>
        <p:txBody>
          <a:bodyPr rtlCol="0" anchor="ctr"/>
          <a:lstStyle/>
          <a:p>
            <a:pPr algn="ctr"/>
          </a:p>
        </p:txBody>
      </p:sp>
      <p:sp>
        <p:nvSpPr>
          <p:cNvPr id="33" name="Rectangle 32"/>
          <p:cNvSpPr/>
          <p:nvPr/>
        </p:nvSpPr>
        <p:spPr>
          <a:xfrm>
            <a:off x="9387840" y="3154679"/>
            <a:ext cx="792480" cy="411480"/>
          </a:xfrm>
          <a:prstGeom prst="rect">
            <a:avLst/>
          </a:prstGeom>
          <a:solidFill>
            <a:srgbClr val="1D4ED8"/>
          </a:solidFill>
          <a:ln w="15240">
            <a:solidFill>
              <a:srgbClr val="0F294A"/>
            </a:solidFill>
          </a:ln>
        </p:spPr>
        <p:txBody>
          <a:bodyPr rtlCol="0" anchor="ctr"/>
          <a:lstStyle/>
          <a:p>
            <a:pPr algn="ctr"/>
          </a:p>
        </p:txBody>
      </p:sp>
      <p:cxnSp>
        <p:nvCxnSpPr>
          <p:cNvPr id="34" name="Connector 33"/>
          <p:cNvCxnSpPr/>
          <p:nvPr/>
        </p:nvCxnSpPr>
        <p:spPr>
          <a:xfrm>
            <a:off x="8595360" y="2743200"/>
            <a:ext cx="2377440" cy="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595360" y="3154679"/>
            <a:ext cx="2377440" cy="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595360" y="3566160"/>
            <a:ext cx="2377440" cy="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87840" y="2331720"/>
            <a:ext cx="0" cy="164591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180320" y="2331720"/>
            <a:ext cx="0" cy="1645919"/>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321040" y="4114800"/>
            <a:ext cx="2926080" cy="411480"/>
          </a:xfrm>
          <a:prstGeom prst="rect">
            <a:avLst/>
          </a:prstGeom>
          <a:noFill/>
        </p:spPr>
        <p:txBody>
          <a:bodyPr wrap="square" anchor="t">
            <a:noAutofit/>
          </a:bodyPr>
          <a:lstStyle/>
          <a:p>
            <a:pPr algn="ctr"/>
            <a:r>
              <a:rPr sz="1800" b="1" i="0">
                <a:solidFill>
                  <a:srgbClr val="1D4ED8"/>
                </a:solidFill>
                <a:latin typeface="Calibri"/>
              </a:rPr>
              <a:t>Now 8 out of 12 shaded</a:t>
            </a:r>
          </a:p>
        </p:txBody>
      </p:sp>
      <p:sp>
        <p:nvSpPr>
          <p:cNvPr id="40" name="Rounded Rectangle 39"/>
          <p:cNvSpPr/>
          <p:nvPr/>
        </p:nvSpPr>
        <p:spPr>
          <a:xfrm>
            <a:off x="731520" y="4937760"/>
            <a:ext cx="10698480" cy="1371600"/>
          </a:xfrm>
          <a:prstGeom prst="roundRect">
            <a:avLst>
              <a:gd name="adj" fmla="val 8000"/>
            </a:avLst>
          </a:prstGeom>
          <a:solidFill>
            <a:srgbClr val="EFF6FF"/>
          </a:solidFill>
          <a:ln w="19050">
            <a:solidFill>
              <a:srgbClr val="BFDBFE"/>
            </a:solidFill>
          </a:ln>
        </p:spPr>
        <p:txBody>
          <a:bodyPr rtlCol="0" anchor="ctr"/>
          <a:lstStyle/>
          <a:p>
            <a:pPr algn="ctr"/>
          </a:p>
        </p:txBody>
      </p:sp>
      <p:sp>
        <p:nvSpPr>
          <p:cNvPr id="41" name="TextBox 40"/>
          <p:cNvSpPr txBox="1"/>
          <p:nvPr/>
        </p:nvSpPr>
        <p:spPr>
          <a:xfrm>
            <a:off x="1005840" y="5029200"/>
            <a:ext cx="10149840" cy="1143000"/>
          </a:xfrm>
          <a:prstGeom prst="rect">
            <a:avLst/>
          </a:prstGeom>
          <a:noFill/>
        </p:spPr>
        <p:txBody>
          <a:bodyPr wrap="square" anchor="t">
            <a:noAutofit/>
          </a:bodyPr>
          <a:lstStyle/>
          <a:p>
            <a:pPr algn="l">
              <a:spcAft>
                <a:spcPts val="400"/>
              </a:spcAft>
            </a:pPr>
            <a:r>
              <a:rPr sz="1900" b="0" i="0">
                <a:solidFill>
                  <a:srgbClr val="1F2937"/>
                </a:solidFill>
                <a:latin typeface="Calibri"/>
              </a:rPr>
              <a:t>• </a:t>
            </a:r>
            <a:r>
              <a:rPr sz="1900" b="1" i="0">
                <a:solidFill>
                  <a:srgbClr val="1F2937"/>
                </a:solidFill>
                <a:latin typeface="Calibri"/>
              </a:rPr>
              <a:t>Subdividing (Partitioning):</a:t>
            </a:r>
            <a:r>
              <a:rPr sz="1900" b="0" i="0">
                <a:solidFill>
                  <a:srgbClr val="1F2937"/>
                </a:solidFill>
                <a:latin typeface="Calibri"/>
              </a:rPr>
              <a:t> Slicing each piece in half doubles the total parts and doubles the shaded parts [1], [6].</a:t>
            </a:r>
          </a:p>
          <a:p>
            <a:pPr algn="l">
              <a:spcAft>
                <a:spcPts val="400"/>
              </a:spcAft>
            </a:pPr>
            <a:r>
              <a:rPr sz="1900" b="0" i="0">
                <a:solidFill>
                  <a:srgbClr val="1F2937"/>
                </a:solidFill>
                <a:latin typeface="Calibri"/>
              </a:rPr>
              <a:t>• The total amount of shaded color </a:t>
            </a:r>
            <a:r>
              <a:rPr sz="1900" b="1" i="0">
                <a:solidFill>
                  <a:srgbClr val="1F2937"/>
                </a:solidFill>
                <a:latin typeface="Calibri"/>
              </a:rPr>
              <a:t>never changed</a:t>
            </a:r>
            <a:r>
              <a:rPr sz="1900" b="0" i="0">
                <a:solidFill>
                  <a:srgbClr val="1F2937"/>
                </a:solidFill>
                <a:latin typeface="Calibri"/>
              </a:rPr>
              <a:t>—only the number and size of the pieces changed!</a:t>
            </a:r>
          </a:p>
          <a:p>
            <a:pPr algn="l"/>
            <a:r>
              <a:rPr sz="1900" b="0" i="0">
                <a:solidFill>
                  <a:srgbClr val="1F2937"/>
                </a:solidFill>
                <a:latin typeface="Calibri"/>
              </a:rPr>
              <a:t>• Mathematical Equivalence: </a:t>
            </a:r>
            <a:r>
              <a:rPr sz="1900" b="1" i="0">
                <a:solidFill>
                  <a:srgbClr val="1F2937"/>
                </a:solidFill>
                <a:latin typeface="Calibri"/>
              </a:rPr>
              <a:t>2/3 = 4/6 = 8/12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365760"/>
            <a:ext cx="10698480" cy="731520"/>
          </a:xfrm>
        </p:spPr>
        <p:txBody>
          <a:bodyPr wrap="square" anchor="ctr">
            <a:noAutofit/>
          </a:bodyPr>
          <a:lstStyle/>
          <a:p>
            <a:pPr algn="l"/>
            <a:r>
              <a:rPr sz="3600" b="1" i="0">
                <a:solidFill>
                  <a:srgbClr val="1F2937"/>
                </a:solidFill>
                <a:latin typeface="Calibri"/>
              </a:rPr>
              <a:t>Model 3: Number Lines (Same Location)</a:t>
            </a:r>
          </a:p>
        </p:txBody>
      </p:sp>
      <p:sp>
        <p:nvSpPr>
          <p:cNvPr id="3" name="Rounded Rectangle 2"/>
          <p:cNvSpPr/>
          <p:nvPr/>
        </p:nvSpPr>
        <p:spPr>
          <a:xfrm>
            <a:off x="731520" y="1188720"/>
            <a:ext cx="2926080" cy="502920"/>
          </a:xfrm>
          <a:prstGeom prst="roundRect">
            <a:avLst>
              <a:gd name="adj" fmla="val 50000"/>
            </a:avLst>
          </a:prstGeom>
          <a:solidFill>
            <a:srgbClr val="1D4ED8"/>
          </a:solidFill>
          <a:ln>
            <a:noFill/>
          </a:ln>
        </p:spPr>
        <p:txBody>
          <a:bodyPr rtlCol="0" anchor="ctr" wrap="square">
            <a:noAutofit/>
          </a:bodyPr>
          <a:lstStyle/>
          <a:p>
            <a:pPr algn="ctr"/>
            <a:r>
              <a:rPr sz="1800" b="1" i="0">
                <a:solidFill>
                  <a:srgbClr val="FFFFFF"/>
                </a:solidFill>
                <a:latin typeface="Calibri"/>
              </a:rPr>
              <a:t>I DO: NUMBER LINES</a:t>
            </a:r>
          </a:p>
        </p:txBody>
      </p:sp>
      <p:sp>
        <p:nvSpPr>
          <p:cNvPr id="4" name="Rounded Rectangle 3"/>
          <p:cNvSpPr/>
          <p:nvPr/>
        </p:nvSpPr>
        <p:spPr>
          <a:xfrm>
            <a:off x="731520" y="1737360"/>
            <a:ext cx="6126480" cy="448056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5" name="TextBox 4"/>
          <p:cNvSpPr txBox="1"/>
          <p:nvPr/>
        </p:nvSpPr>
        <p:spPr>
          <a:xfrm>
            <a:off x="1005840" y="1920240"/>
            <a:ext cx="5577840" cy="411480"/>
          </a:xfrm>
          <a:prstGeom prst="rect">
            <a:avLst/>
          </a:prstGeom>
          <a:noFill/>
        </p:spPr>
        <p:txBody>
          <a:bodyPr wrap="square" anchor="t">
            <a:noAutofit/>
          </a:bodyPr>
          <a:lstStyle/>
          <a:p>
            <a:pPr algn="l"/>
            <a:r>
              <a:rPr sz="2200" b="1" i="0">
                <a:solidFill>
                  <a:srgbClr val="0F294A"/>
                </a:solidFill>
                <a:latin typeface="Calibri"/>
              </a:rPr>
              <a:t>Fractions as Distances on a Number Line</a:t>
            </a:r>
          </a:p>
        </p:txBody>
      </p:sp>
      <p:sp>
        <p:nvSpPr>
          <p:cNvPr id="6" name="TextBox 5"/>
          <p:cNvSpPr txBox="1"/>
          <p:nvPr/>
        </p:nvSpPr>
        <p:spPr>
          <a:xfrm>
            <a:off x="1371600" y="2377440"/>
            <a:ext cx="4937760" cy="411480"/>
          </a:xfrm>
          <a:prstGeom prst="rect">
            <a:avLst/>
          </a:prstGeom>
          <a:noFill/>
        </p:spPr>
        <p:txBody>
          <a:bodyPr wrap="square" anchor="t">
            <a:noAutofit/>
          </a:bodyPr>
          <a:lstStyle/>
          <a:p>
            <a:pPr algn="l"/>
            <a:r>
              <a:rPr sz="2000" b="1" i="0">
                <a:solidFill>
                  <a:srgbClr val="0F294A"/>
                </a:solidFill>
                <a:latin typeface="Calibri"/>
              </a:rPr>
              <a:t>Halves (1/2)</a:t>
            </a:r>
          </a:p>
        </p:txBody>
      </p:sp>
      <p:cxnSp>
        <p:nvCxnSpPr>
          <p:cNvPr id="7" name="Connector 6"/>
          <p:cNvCxnSpPr/>
          <p:nvPr/>
        </p:nvCxnSpPr>
        <p:spPr>
          <a:xfrm>
            <a:off x="1371600" y="2834640"/>
            <a:ext cx="4937760" cy="0"/>
          </a:xfrm>
          <a:prstGeom prst="line">
            <a:avLst/>
          </a:prstGeom>
          <a:ln w="317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371600" y="274320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97280" y="2971800"/>
            <a:ext cx="548640" cy="411480"/>
          </a:xfrm>
          <a:prstGeom prst="rect">
            <a:avLst/>
          </a:prstGeom>
          <a:noFill/>
        </p:spPr>
        <p:txBody>
          <a:bodyPr wrap="square" anchor="t">
            <a:noAutofit/>
          </a:bodyPr>
          <a:lstStyle/>
          <a:p>
            <a:pPr algn="ctr"/>
            <a:r>
              <a:rPr sz="1800" b="0" i="0">
                <a:solidFill>
                  <a:srgbClr val="0F294A"/>
                </a:solidFill>
                <a:latin typeface="Calibri"/>
              </a:rPr>
              <a:t>0</a:t>
            </a:r>
          </a:p>
        </p:txBody>
      </p:sp>
      <p:cxnSp>
        <p:nvCxnSpPr>
          <p:cNvPr id="10" name="Connector 9"/>
          <p:cNvCxnSpPr/>
          <p:nvPr/>
        </p:nvCxnSpPr>
        <p:spPr>
          <a:xfrm>
            <a:off x="3840480" y="274320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566160" y="2971800"/>
            <a:ext cx="548640" cy="411480"/>
          </a:xfrm>
          <a:prstGeom prst="rect">
            <a:avLst/>
          </a:prstGeom>
          <a:noFill/>
        </p:spPr>
        <p:txBody>
          <a:bodyPr wrap="square" anchor="t">
            <a:noAutofit/>
          </a:bodyPr>
          <a:lstStyle/>
          <a:p>
            <a:pPr algn="ctr"/>
            <a:r>
              <a:rPr sz="1800" b="1" i="0">
                <a:solidFill>
                  <a:srgbClr val="1D4ED8"/>
                </a:solidFill>
                <a:latin typeface="Calibri"/>
              </a:rPr>
              <a:t>1/2</a:t>
            </a:r>
          </a:p>
        </p:txBody>
      </p:sp>
      <p:sp>
        <p:nvSpPr>
          <p:cNvPr id="12" name="Oval 11"/>
          <p:cNvSpPr/>
          <p:nvPr/>
        </p:nvSpPr>
        <p:spPr>
          <a:xfrm>
            <a:off x="3739896" y="2734056"/>
            <a:ext cx="201168" cy="201168"/>
          </a:xfrm>
          <a:prstGeom prst="ellipse">
            <a:avLst/>
          </a:prstGeom>
          <a:solidFill>
            <a:srgbClr val="1D4ED8"/>
          </a:solidFill>
          <a:ln w="19050">
            <a:solidFill>
              <a:srgbClr val="FFFFFF"/>
            </a:solidFill>
          </a:ln>
        </p:spPr>
        <p:txBody>
          <a:bodyPr rtlCol="0" anchor="ctr"/>
          <a:lstStyle/>
          <a:p>
            <a:pPr algn="ctr"/>
          </a:p>
        </p:txBody>
      </p:sp>
      <p:cxnSp>
        <p:nvCxnSpPr>
          <p:cNvPr id="13" name="Connector 12"/>
          <p:cNvCxnSpPr/>
          <p:nvPr/>
        </p:nvCxnSpPr>
        <p:spPr>
          <a:xfrm>
            <a:off x="6309360" y="274320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35040" y="2971800"/>
            <a:ext cx="548640" cy="411480"/>
          </a:xfrm>
          <a:prstGeom prst="rect">
            <a:avLst/>
          </a:prstGeom>
          <a:noFill/>
        </p:spPr>
        <p:txBody>
          <a:bodyPr wrap="square" anchor="t">
            <a:noAutofit/>
          </a:bodyPr>
          <a:lstStyle/>
          <a:p>
            <a:pPr algn="ctr"/>
            <a:r>
              <a:rPr sz="1800" b="0" i="0">
                <a:solidFill>
                  <a:srgbClr val="0F294A"/>
                </a:solidFill>
                <a:latin typeface="Calibri"/>
              </a:rPr>
              <a:t>1</a:t>
            </a:r>
          </a:p>
        </p:txBody>
      </p:sp>
      <p:sp>
        <p:nvSpPr>
          <p:cNvPr id="15" name="TextBox 14"/>
          <p:cNvSpPr txBox="1"/>
          <p:nvPr/>
        </p:nvSpPr>
        <p:spPr>
          <a:xfrm>
            <a:off x="1371600" y="3657600"/>
            <a:ext cx="4937760" cy="411480"/>
          </a:xfrm>
          <a:prstGeom prst="rect">
            <a:avLst/>
          </a:prstGeom>
          <a:noFill/>
        </p:spPr>
        <p:txBody>
          <a:bodyPr wrap="square" anchor="t">
            <a:noAutofit/>
          </a:bodyPr>
          <a:lstStyle/>
          <a:p>
            <a:pPr algn="l"/>
            <a:r>
              <a:rPr sz="2000" b="1" i="0">
                <a:solidFill>
                  <a:srgbClr val="0F294A"/>
                </a:solidFill>
                <a:latin typeface="Calibri"/>
              </a:rPr>
              <a:t>Fourths (2/4)</a:t>
            </a:r>
          </a:p>
        </p:txBody>
      </p:sp>
      <p:cxnSp>
        <p:nvCxnSpPr>
          <p:cNvPr id="16" name="Connector 15"/>
          <p:cNvCxnSpPr/>
          <p:nvPr/>
        </p:nvCxnSpPr>
        <p:spPr>
          <a:xfrm>
            <a:off x="1371600" y="4114800"/>
            <a:ext cx="4937760" cy="0"/>
          </a:xfrm>
          <a:prstGeom prst="line">
            <a:avLst/>
          </a:prstGeom>
          <a:ln w="317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 y="402336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97280" y="4251960"/>
            <a:ext cx="548640" cy="411480"/>
          </a:xfrm>
          <a:prstGeom prst="rect">
            <a:avLst/>
          </a:prstGeom>
          <a:noFill/>
        </p:spPr>
        <p:txBody>
          <a:bodyPr wrap="square" anchor="t">
            <a:noAutofit/>
          </a:bodyPr>
          <a:lstStyle/>
          <a:p>
            <a:pPr algn="ctr"/>
            <a:r>
              <a:rPr sz="1800" b="0" i="0">
                <a:solidFill>
                  <a:srgbClr val="0F294A"/>
                </a:solidFill>
                <a:latin typeface="Calibri"/>
              </a:rPr>
              <a:t>0</a:t>
            </a:r>
          </a:p>
        </p:txBody>
      </p:sp>
      <p:cxnSp>
        <p:nvCxnSpPr>
          <p:cNvPr id="19" name="Connector 18"/>
          <p:cNvCxnSpPr/>
          <p:nvPr/>
        </p:nvCxnSpPr>
        <p:spPr>
          <a:xfrm>
            <a:off x="2606040" y="402336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331720" y="4251960"/>
            <a:ext cx="548640" cy="411480"/>
          </a:xfrm>
          <a:prstGeom prst="rect">
            <a:avLst/>
          </a:prstGeom>
          <a:noFill/>
        </p:spPr>
        <p:txBody>
          <a:bodyPr wrap="square" anchor="t">
            <a:noAutofit/>
          </a:bodyPr>
          <a:lstStyle/>
          <a:p>
            <a:pPr algn="ctr"/>
            <a:r>
              <a:rPr sz="1800" b="0" i="0">
                <a:solidFill>
                  <a:srgbClr val="0F294A"/>
                </a:solidFill>
                <a:latin typeface="Calibri"/>
              </a:rPr>
              <a:t>1/4</a:t>
            </a:r>
          </a:p>
        </p:txBody>
      </p:sp>
      <p:cxnSp>
        <p:nvCxnSpPr>
          <p:cNvPr id="21" name="Connector 20"/>
          <p:cNvCxnSpPr/>
          <p:nvPr/>
        </p:nvCxnSpPr>
        <p:spPr>
          <a:xfrm>
            <a:off x="3840480" y="402336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566160" y="4251960"/>
            <a:ext cx="548640" cy="411480"/>
          </a:xfrm>
          <a:prstGeom prst="rect">
            <a:avLst/>
          </a:prstGeom>
          <a:noFill/>
        </p:spPr>
        <p:txBody>
          <a:bodyPr wrap="square" anchor="t">
            <a:noAutofit/>
          </a:bodyPr>
          <a:lstStyle/>
          <a:p>
            <a:pPr algn="ctr"/>
            <a:r>
              <a:rPr sz="1800" b="1" i="0">
                <a:solidFill>
                  <a:srgbClr val="1D4ED8"/>
                </a:solidFill>
                <a:latin typeface="Calibri"/>
              </a:rPr>
              <a:t>2/4</a:t>
            </a:r>
          </a:p>
        </p:txBody>
      </p:sp>
      <p:sp>
        <p:nvSpPr>
          <p:cNvPr id="23" name="Oval 22"/>
          <p:cNvSpPr/>
          <p:nvPr/>
        </p:nvSpPr>
        <p:spPr>
          <a:xfrm>
            <a:off x="3739896" y="4014215"/>
            <a:ext cx="201168" cy="201168"/>
          </a:xfrm>
          <a:prstGeom prst="ellipse">
            <a:avLst/>
          </a:prstGeom>
          <a:solidFill>
            <a:srgbClr val="1D4ED8"/>
          </a:solidFill>
          <a:ln w="19050">
            <a:solidFill>
              <a:srgbClr val="FFFFFF"/>
            </a:solidFill>
          </a:ln>
        </p:spPr>
        <p:txBody>
          <a:bodyPr rtlCol="0" anchor="ctr"/>
          <a:lstStyle/>
          <a:p>
            <a:pPr algn="ctr"/>
          </a:p>
        </p:txBody>
      </p:sp>
      <p:cxnSp>
        <p:nvCxnSpPr>
          <p:cNvPr id="24" name="Connector 23"/>
          <p:cNvCxnSpPr/>
          <p:nvPr/>
        </p:nvCxnSpPr>
        <p:spPr>
          <a:xfrm>
            <a:off x="5074920" y="402336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800600" y="4251960"/>
            <a:ext cx="548640" cy="411480"/>
          </a:xfrm>
          <a:prstGeom prst="rect">
            <a:avLst/>
          </a:prstGeom>
          <a:noFill/>
        </p:spPr>
        <p:txBody>
          <a:bodyPr wrap="square" anchor="t">
            <a:noAutofit/>
          </a:bodyPr>
          <a:lstStyle/>
          <a:p>
            <a:pPr algn="ctr"/>
            <a:r>
              <a:rPr sz="1800" b="0" i="0">
                <a:solidFill>
                  <a:srgbClr val="0F294A"/>
                </a:solidFill>
                <a:latin typeface="Calibri"/>
              </a:rPr>
              <a:t>3/4</a:t>
            </a:r>
          </a:p>
        </p:txBody>
      </p:sp>
      <p:cxnSp>
        <p:nvCxnSpPr>
          <p:cNvPr id="26" name="Connector 25"/>
          <p:cNvCxnSpPr/>
          <p:nvPr/>
        </p:nvCxnSpPr>
        <p:spPr>
          <a:xfrm>
            <a:off x="6309360" y="402336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035040" y="4251960"/>
            <a:ext cx="548640" cy="411480"/>
          </a:xfrm>
          <a:prstGeom prst="rect">
            <a:avLst/>
          </a:prstGeom>
          <a:noFill/>
        </p:spPr>
        <p:txBody>
          <a:bodyPr wrap="square" anchor="t">
            <a:noAutofit/>
          </a:bodyPr>
          <a:lstStyle/>
          <a:p>
            <a:pPr algn="ctr"/>
            <a:r>
              <a:rPr sz="1800" b="0" i="0">
                <a:solidFill>
                  <a:srgbClr val="0F294A"/>
                </a:solidFill>
                <a:latin typeface="Calibri"/>
              </a:rPr>
              <a:t>1</a:t>
            </a:r>
          </a:p>
        </p:txBody>
      </p:sp>
      <p:sp>
        <p:nvSpPr>
          <p:cNvPr id="28" name="TextBox 27"/>
          <p:cNvSpPr txBox="1"/>
          <p:nvPr/>
        </p:nvSpPr>
        <p:spPr>
          <a:xfrm>
            <a:off x="1371600" y="4937760"/>
            <a:ext cx="4937760" cy="411480"/>
          </a:xfrm>
          <a:prstGeom prst="rect">
            <a:avLst/>
          </a:prstGeom>
          <a:noFill/>
        </p:spPr>
        <p:txBody>
          <a:bodyPr wrap="square" anchor="t">
            <a:noAutofit/>
          </a:bodyPr>
          <a:lstStyle/>
          <a:p>
            <a:pPr algn="l"/>
            <a:r>
              <a:rPr sz="2000" b="1" i="0">
                <a:solidFill>
                  <a:srgbClr val="0F294A"/>
                </a:solidFill>
                <a:latin typeface="Calibri"/>
              </a:rPr>
              <a:t>Eighths (4/8)</a:t>
            </a:r>
          </a:p>
        </p:txBody>
      </p:sp>
      <p:cxnSp>
        <p:nvCxnSpPr>
          <p:cNvPr id="29" name="Connector 28"/>
          <p:cNvCxnSpPr/>
          <p:nvPr/>
        </p:nvCxnSpPr>
        <p:spPr>
          <a:xfrm>
            <a:off x="1371600" y="5394960"/>
            <a:ext cx="4937760" cy="0"/>
          </a:xfrm>
          <a:prstGeom prst="line">
            <a:avLst/>
          </a:prstGeom>
          <a:ln w="317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71600" y="530352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97280" y="5532120"/>
            <a:ext cx="548640" cy="411480"/>
          </a:xfrm>
          <a:prstGeom prst="rect">
            <a:avLst/>
          </a:prstGeom>
          <a:noFill/>
        </p:spPr>
        <p:txBody>
          <a:bodyPr wrap="square" anchor="t">
            <a:noAutofit/>
          </a:bodyPr>
          <a:lstStyle/>
          <a:p>
            <a:pPr algn="ctr"/>
            <a:r>
              <a:rPr sz="1800" b="0" i="0">
                <a:solidFill>
                  <a:srgbClr val="0F294A"/>
                </a:solidFill>
                <a:latin typeface="Calibri"/>
              </a:rPr>
              <a:t>0</a:t>
            </a:r>
          </a:p>
        </p:txBody>
      </p:sp>
      <p:cxnSp>
        <p:nvCxnSpPr>
          <p:cNvPr id="32" name="Connector 31"/>
          <p:cNvCxnSpPr/>
          <p:nvPr/>
        </p:nvCxnSpPr>
        <p:spPr>
          <a:xfrm>
            <a:off x="1988819" y="530352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714499" y="5532120"/>
            <a:ext cx="548640" cy="411480"/>
          </a:xfrm>
          <a:prstGeom prst="rect">
            <a:avLst/>
          </a:prstGeom>
          <a:noFill/>
        </p:spPr>
        <p:txBody>
          <a:bodyPr wrap="square" anchor="t">
            <a:noAutofit/>
          </a:bodyPr>
          <a:lstStyle/>
          <a:p>
            <a:pPr algn="ctr"/>
            <a:r>
              <a:rPr sz="1800" b="0" i="0">
                <a:solidFill>
                  <a:srgbClr val="0F294A"/>
                </a:solidFill>
                <a:latin typeface="Calibri"/>
              </a:rPr>
              <a:t>1/8</a:t>
            </a:r>
          </a:p>
        </p:txBody>
      </p:sp>
      <p:cxnSp>
        <p:nvCxnSpPr>
          <p:cNvPr id="34" name="Connector 33"/>
          <p:cNvCxnSpPr/>
          <p:nvPr/>
        </p:nvCxnSpPr>
        <p:spPr>
          <a:xfrm>
            <a:off x="2606040" y="530352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331720" y="5532120"/>
            <a:ext cx="548640" cy="411480"/>
          </a:xfrm>
          <a:prstGeom prst="rect">
            <a:avLst/>
          </a:prstGeom>
          <a:noFill/>
        </p:spPr>
        <p:txBody>
          <a:bodyPr wrap="square" anchor="t">
            <a:noAutofit/>
          </a:bodyPr>
          <a:lstStyle/>
          <a:p>
            <a:pPr algn="ctr"/>
            <a:r>
              <a:rPr sz="1800" b="0" i="0">
                <a:solidFill>
                  <a:srgbClr val="0F294A"/>
                </a:solidFill>
                <a:latin typeface="Calibri"/>
              </a:rPr>
              <a:t>2/8</a:t>
            </a:r>
          </a:p>
        </p:txBody>
      </p:sp>
      <p:cxnSp>
        <p:nvCxnSpPr>
          <p:cNvPr id="36" name="Connector 35"/>
          <p:cNvCxnSpPr/>
          <p:nvPr/>
        </p:nvCxnSpPr>
        <p:spPr>
          <a:xfrm>
            <a:off x="3223260" y="530352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948940" y="5532120"/>
            <a:ext cx="548640" cy="411480"/>
          </a:xfrm>
          <a:prstGeom prst="rect">
            <a:avLst/>
          </a:prstGeom>
          <a:noFill/>
        </p:spPr>
        <p:txBody>
          <a:bodyPr wrap="square" anchor="t">
            <a:noAutofit/>
          </a:bodyPr>
          <a:lstStyle/>
          <a:p>
            <a:pPr algn="ctr"/>
            <a:r>
              <a:rPr sz="1800" b="0" i="0">
                <a:solidFill>
                  <a:srgbClr val="0F294A"/>
                </a:solidFill>
                <a:latin typeface="Calibri"/>
              </a:rPr>
              <a:t>3/8</a:t>
            </a:r>
          </a:p>
        </p:txBody>
      </p:sp>
      <p:cxnSp>
        <p:nvCxnSpPr>
          <p:cNvPr id="38" name="Connector 37"/>
          <p:cNvCxnSpPr/>
          <p:nvPr/>
        </p:nvCxnSpPr>
        <p:spPr>
          <a:xfrm>
            <a:off x="3840480" y="530352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566160" y="5532120"/>
            <a:ext cx="548640" cy="411480"/>
          </a:xfrm>
          <a:prstGeom prst="rect">
            <a:avLst/>
          </a:prstGeom>
          <a:noFill/>
        </p:spPr>
        <p:txBody>
          <a:bodyPr wrap="square" anchor="t">
            <a:noAutofit/>
          </a:bodyPr>
          <a:lstStyle/>
          <a:p>
            <a:pPr algn="ctr"/>
            <a:r>
              <a:rPr sz="1800" b="1" i="0">
                <a:solidFill>
                  <a:srgbClr val="1D4ED8"/>
                </a:solidFill>
                <a:latin typeface="Calibri"/>
              </a:rPr>
              <a:t>4/8</a:t>
            </a:r>
          </a:p>
        </p:txBody>
      </p:sp>
      <p:sp>
        <p:nvSpPr>
          <p:cNvPr id="40" name="Oval 39"/>
          <p:cNvSpPr/>
          <p:nvPr/>
        </p:nvSpPr>
        <p:spPr>
          <a:xfrm>
            <a:off x="3739896" y="5294376"/>
            <a:ext cx="201168" cy="201168"/>
          </a:xfrm>
          <a:prstGeom prst="ellipse">
            <a:avLst/>
          </a:prstGeom>
          <a:solidFill>
            <a:srgbClr val="1D4ED8"/>
          </a:solidFill>
          <a:ln w="19050">
            <a:solidFill>
              <a:srgbClr val="FFFFFF"/>
            </a:solidFill>
          </a:ln>
        </p:spPr>
        <p:txBody>
          <a:bodyPr rtlCol="0" anchor="ctr"/>
          <a:lstStyle/>
          <a:p>
            <a:pPr algn="ctr"/>
          </a:p>
        </p:txBody>
      </p:sp>
      <p:cxnSp>
        <p:nvCxnSpPr>
          <p:cNvPr id="41" name="Connector 40"/>
          <p:cNvCxnSpPr/>
          <p:nvPr/>
        </p:nvCxnSpPr>
        <p:spPr>
          <a:xfrm>
            <a:off x="4457700" y="530352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183380" y="5532120"/>
            <a:ext cx="548640" cy="411480"/>
          </a:xfrm>
          <a:prstGeom prst="rect">
            <a:avLst/>
          </a:prstGeom>
          <a:noFill/>
        </p:spPr>
        <p:txBody>
          <a:bodyPr wrap="square" anchor="t">
            <a:noAutofit/>
          </a:bodyPr>
          <a:lstStyle/>
          <a:p>
            <a:pPr algn="ctr"/>
            <a:r>
              <a:rPr sz="1800" b="0" i="0">
                <a:solidFill>
                  <a:srgbClr val="0F294A"/>
                </a:solidFill>
                <a:latin typeface="Calibri"/>
              </a:rPr>
              <a:t>5/8</a:t>
            </a:r>
          </a:p>
        </p:txBody>
      </p:sp>
      <p:cxnSp>
        <p:nvCxnSpPr>
          <p:cNvPr id="43" name="Connector 42"/>
          <p:cNvCxnSpPr/>
          <p:nvPr/>
        </p:nvCxnSpPr>
        <p:spPr>
          <a:xfrm>
            <a:off x="5074920" y="530352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4800600" y="5532120"/>
            <a:ext cx="548640" cy="411480"/>
          </a:xfrm>
          <a:prstGeom prst="rect">
            <a:avLst/>
          </a:prstGeom>
          <a:noFill/>
        </p:spPr>
        <p:txBody>
          <a:bodyPr wrap="square" anchor="t">
            <a:noAutofit/>
          </a:bodyPr>
          <a:lstStyle/>
          <a:p>
            <a:pPr algn="ctr"/>
            <a:r>
              <a:rPr sz="1800" b="0" i="0">
                <a:solidFill>
                  <a:srgbClr val="0F294A"/>
                </a:solidFill>
                <a:latin typeface="Calibri"/>
              </a:rPr>
              <a:t>6/8</a:t>
            </a:r>
          </a:p>
        </p:txBody>
      </p:sp>
      <p:cxnSp>
        <p:nvCxnSpPr>
          <p:cNvPr id="45" name="Connector 44"/>
          <p:cNvCxnSpPr/>
          <p:nvPr/>
        </p:nvCxnSpPr>
        <p:spPr>
          <a:xfrm>
            <a:off x="5692140" y="530352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417820" y="5532120"/>
            <a:ext cx="548640" cy="411480"/>
          </a:xfrm>
          <a:prstGeom prst="rect">
            <a:avLst/>
          </a:prstGeom>
          <a:noFill/>
        </p:spPr>
        <p:txBody>
          <a:bodyPr wrap="square" anchor="t">
            <a:noAutofit/>
          </a:bodyPr>
          <a:lstStyle/>
          <a:p>
            <a:pPr algn="ctr"/>
            <a:r>
              <a:rPr sz="1800" b="0" i="0">
                <a:solidFill>
                  <a:srgbClr val="0F294A"/>
                </a:solidFill>
                <a:latin typeface="Calibri"/>
              </a:rPr>
              <a:t>7/8</a:t>
            </a:r>
          </a:p>
        </p:txBody>
      </p:sp>
      <p:cxnSp>
        <p:nvCxnSpPr>
          <p:cNvPr id="47" name="Connector 46"/>
          <p:cNvCxnSpPr/>
          <p:nvPr/>
        </p:nvCxnSpPr>
        <p:spPr>
          <a:xfrm>
            <a:off x="6309360" y="5303520"/>
            <a:ext cx="0" cy="182880"/>
          </a:xfrm>
          <a:prstGeom prst="line">
            <a:avLst/>
          </a:prstGeom>
          <a:ln w="25400">
            <a:solidFill>
              <a:srgbClr val="0F294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035040" y="5532120"/>
            <a:ext cx="548640" cy="411480"/>
          </a:xfrm>
          <a:prstGeom prst="rect">
            <a:avLst/>
          </a:prstGeom>
          <a:noFill/>
        </p:spPr>
        <p:txBody>
          <a:bodyPr wrap="square" anchor="t">
            <a:noAutofit/>
          </a:bodyPr>
          <a:lstStyle/>
          <a:p>
            <a:pPr algn="ctr"/>
            <a:r>
              <a:rPr sz="1800" b="0" i="0">
                <a:solidFill>
                  <a:srgbClr val="0F294A"/>
                </a:solidFill>
                <a:latin typeface="Calibri"/>
              </a:rPr>
              <a:t>1</a:t>
            </a:r>
          </a:p>
        </p:txBody>
      </p:sp>
      <p:sp>
        <p:nvSpPr>
          <p:cNvPr id="49" name="Rounded Rectangle 48"/>
          <p:cNvSpPr/>
          <p:nvPr/>
        </p:nvSpPr>
        <p:spPr>
          <a:xfrm>
            <a:off x="7132320" y="1737360"/>
            <a:ext cx="4297680" cy="4480560"/>
          </a:xfrm>
          <a:prstGeom prst="roundRect">
            <a:avLst>
              <a:gd name="adj" fmla="val 8000"/>
            </a:avLst>
          </a:prstGeom>
          <a:solidFill>
            <a:srgbClr val="EFF6FF"/>
          </a:solidFill>
          <a:ln w="19050">
            <a:solidFill>
              <a:srgbClr val="BFDBFE"/>
            </a:solidFill>
          </a:ln>
        </p:spPr>
        <p:txBody>
          <a:bodyPr rtlCol="0" anchor="ctr"/>
          <a:lstStyle/>
          <a:p>
            <a:pPr algn="ctr"/>
          </a:p>
        </p:txBody>
      </p:sp>
      <p:sp>
        <p:nvSpPr>
          <p:cNvPr id="50" name="TextBox 49"/>
          <p:cNvSpPr txBox="1"/>
          <p:nvPr/>
        </p:nvSpPr>
        <p:spPr>
          <a:xfrm>
            <a:off x="7406640" y="1920240"/>
            <a:ext cx="3749039" cy="411480"/>
          </a:xfrm>
          <a:prstGeom prst="rect">
            <a:avLst/>
          </a:prstGeom>
          <a:noFill/>
        </p:spPr>
        <p:txBody>
          <a:bodyPr wrap="square" anchor="t">
            <a:noAutofit/>
          </a:bodyPr>
          <a:lstStyle/>
          <a:p>
            <a:pPr algn="l"/>
            <a:r>
              <a:rPr sz="2400" b="1" i="0">
                <a:solidFill>
                  <a:srgbClr val="1D4ED8"/>
                </a:solidFill>
                <a:latin typeface="Calibri"/>
              </a:rPr>
              <a:t>The Same Point</a:t>
            </a:r>
          </a:p>
        </p:txBody>
      </p:sp>
      <p:sp>
        <p:nvSpPr>
          <p:cNvPr id="51" name="TextBox 50"/>
          <p:cNvSpPr txBox="1"/>
          <p:nvPr/>
        </p:nvSpPr>
        <p:spPr>
          <a:xfrm>
            <a:off x="7406640" y="2468880"/>
            <a:ext cx="3749039" cy="3474720"/>
          </a:xfrm>
          <a:prstGeom prst="rect">
            <a:avLst/>
          </a:prstGeom>
          <a:noFill/>
        </p:spPr>
        <p:txBody>
          <a:bodyPr wrap="square" anchor="t">
            <a:noAutofit/>
          </a:bodyPr>
          <a:lstStyle/>
          <a:p>
            <a:pPr algn="l" marL="304800" indent="-304800">
              <a:spcAft>
                <a:spcPts val="700"/>
              </a:spcAft>
              <a:buFont typeface="Arial"/>
              <a:buChar char="•"/>
            </a:pPr>
            <a:r>
              <a:rPr sz="2000" b="0" i="0">
                <a:solidFill>
                  <a:srgbClr val="1F2937"/>
                </a:solidFill>
                <a:latin typeface="Calibri"/>
              </a:rPr>
              <a:t>On a number line, equivalent fractions share the </a:t>
            </a:r>
            <a:r>
              <a:rPr sz="2000" b="1" i="0">
                <a:solidFill>
                  <a:srgbClr val="1F2937"/>
                </a:solidFill>
                <a:latin typeface="Calibri"/>
              </a:rPr>
              <a:t>exact same point</a:t>
            </a:r>
            <a:r>
              <a:rPr sz="2000" b="0" i="0">
                <a:solidFill>
                  <a:srgbClr val="1F2937"/>
                </a:solidFill>
                <a:latin typeface="Calibri"/>
              </a:rPr>
              <a:t> between 0 and 1 [6].</a:t>
            </a:r>
          </a:p>
          <a:p>
            <a:pPr algn="l" marL="304800" indent="-304800">
              <a:spcAft>
                <a:spcPts val="700"/>
              </a:spcAft>
              <a:buFont typeface="Arial"/>
              <a:buChar char="•"/>
            </a:pPr>
            <a:r>
              <a:rPr sz="2000" b="0" i="0">
                <a:solidFill>
                  <a:srgbClr val="1F2937"/>
                </a:solidFill>
                <a:latin typeface="Calibri"/>
              </a:rPr>
              <a:t>Each fraction represents the </a:t>
            </a:r>
            <a:r>
              <a:rPr sz="2000" b="1" i="0">
                <a:solidFill>
                  <a:srgbClr val="1F2937"/>
                </a:solidFill>
                <a:latin typeface="Calibri"/>
              </a:rPr>
              <a:t>same distance</a:t>
            </a:r>
            <a:r>
              <a:rPr sz="2000" b="0" i="0">
                <a:solidFill>
                  <a:srgbClr val="1F2937"/>
                </a:solidFill>
                <a:latin typeface="Calibri"/>
              </a:rPr>
              <a:t> from 0.</a:t>
            </a:r>
          </a:p>
          <a:p>
            <a:pPr algn="l" marL="304800" indent="-304800">
              <a:spcAft>
                <a:spcPts val="700"/>
              </a:spcAft>
              <a:buFont typeface="Arial"/>
              <a:buChar char="•"/>
            </a:pPr>
            <a:r>
              <a:rPr sz="2000" b="0" i="0">
                <a:solidFill>
                  <a:srgbClr val="1F2937"/>
                </a:solidFill>
                <a:latin typeface="Calibri"/>
              </a:rPr>
              <a:t>Look at the blue dots: they stack right on top of each other!</a:t>
            </a:r>
          </a:p>
          <a:p>
            <a:pPr algn="l" marL="304800" indent="-304800">
              <a:buFont typeface="Arial"/>
              <a:buChar char="•"/>
            </a:pPr>
            <a:r>
              <a:rPr sz="2000" b="1" i="0">
                <a:solidFill>
                  <a:srgbClr val="1F2937"/>
                </a:solidFill>
                <a:latin typeface="Calibri"/>
              </a:rPr>
              <a:t>1/2, 2/4, and 4/8</a:t>
            </a:r>
            <a:r>
              <a:rPr sz="2000" b="0" i="0">
                <a:solidFill>
                  <a:srgbClr val="1F2937"/>
                </a:solidFill>
                <a:latin typeface="Calibri"/>
              </a:rPr>
              <a:t> all mark the exact halfway point.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365760"/>
            <a:ext cx="10698480" cy="731520"/>
          </a:xfrm>
        </p:spPr>
        <p:txBody>
          <a:bodyPr wrap="square" anchor="ctr">
            <a:noAutofit/>
          </a:bodyPr>
          <a:lstStyle/>
          <a:p>
            <a:pPr algn="l"/>
            <a:r>
              <a:rPr sz="3600" b="1" i="0">
                <a:solidFill>
                  <a:srgbClr val="1F2937"/>
                </a:solidFill>
                <a:latin typeface="Calibri"/>
              </a:rPr>
              <a:t>Guided Practice: Match the Equivalent Pairs</a:t>
            </a:r>
          </a:p>
        </p:txBody>
      </p:sp>
      <p:sp>
        <p:nvSpPr>
          <p:cNvPr id="3" name="Rounded Rectangle 2"/>
          <p:cNvSpPr/>
          <p:nvPr/>
        </p:nvSpPr>
        <p:spPr>
          <a:xfrm>
            <a:off x="731520" y="1188720"/>
            <a:ext cx="2926080" cy="502920"/>
          </a:xfrm>
          <a:prstGeom prst="roundRect">
            <a:avLst>
              <a:gd name="adj" fmla="val 50000"/>
            </a:avLst>
          </a:prstGeom>
          <a:solidFill>
            <a:srgbClr val="D97706"/>
          </a:solidFill>
          <a:ln>
            <a:noFill/>
          </a:ln>
        </p:spPr>
        <p:txBody>
          <a:bodyPr rtlCol="0" anchor="ctr" wrap="square">
            <a:noAutofit/>
          </a:bodyPr>
          <a:lstStyle/>
          <a:p>
            <a:pPr algn="ctr"/>
            <a:r>
              <a:rPr sz="1800" b="1" i="0">
                <a:solidFill>
                  <a:srgbClr val="FFFFFF"/>
                </a:solidFill>
                <a:latin typeface="Calibri"/>
              </a:rPr>
              <a:t>WE DO: GUIDED PRACTICE</a:t>
            </a:r>
          </a:p>
        </p:txBody>
      </p:sp>
      <p:sp>
        <p:nvSpPr>
          <p:cNvPr id="4" name="Rounded Rectangle 3"/>
          <p:cNvSpPr/>
          <p:nvPr/>
        </p:nvSpPr>
        <p:spPr>
          <a:xfrm>
            <a:off x="731520" y="1737360"/>
            <a:ext cx="2468880" cy="219456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5" name="Rounded Rectangle 4"/>
          <p:cNvSpPr/>
          <p:nvPr/>
        </p:nvSpPr>
        <p:spPr>
          <a:xfrm>
            <a:off x="914400" y="1874519"/>
            <a:ext cx="640080" cy="411480"/>
          </a:xfrm>
          <a:prstGeom prst="roundRect">
            <a:avLst>
              <a:gd name="adj" fmla="val 10000"/>
            </a:avLst>
          </a:prstGeom>
          <a:solidFill>
            <a:srgbClr val="1D4ED8"/>
          </a:solidFill>
          <a:ln>
            <a:noFill/>
          </a:ln>
        </p:spPr>
        <p:txBody>
          <a:bodyPr rtlCol="0" anchor="ctr" wrap="square">
            <a:noAutofit/>
          </a:bodyPr>
          <a:lstStyle/>
          <a:p>
            <a:pPr algn="ctr"/>
            <a:r>
              <a:rPr sz="2000" b="1" i="0">
                <a:solidFill>
                  <a:srgbClr val="FFFFFF"/>
                </a:solidFill>
                <a:latin typeface="Calibri"/>
              </a:rPr>
              <a:t>A</a:t>
            </a:r>
          </a:p>
        </p:txBody>
      </p:sp>
      <p:sp>
        <p:nvSpPr>
          <p:cNvPr id="6" name="Rectangle 5"/>
          <p:cNvSpPr/>
          <p:nvPr/>
        </p:nvSpPr>
        <p:spPr>
          <a:xfrm>
            <a:off x="914400" y="2468880"/>
            <a:ext cx="2103120" cy="548640"/>
          </a:xfrm>
          <a:prstGeom prst="rect">
            <a:avLst/>
          </a:prstGeom>
          <a:solidFill>
            <a:srgbClr val="FFFFFF"/>
          </a:solidFill>
          <a:ln w="25400">
            <a:solidFill>
              <a:srgbClr val="0F294A"/>
            </a:solidFill>
          </a:ln>
        </p:spPr>
        <p:txBody>
          <a:bodyPr rtlCol="0" anchor="ctr"/>
          <a:lstStyle/>
          <a:p>
            <a:pPr algn="ctr"/>
          </a:p>
        </p:txBody>
      </p:sp>
      <p:sp>
        <p:nvSpPr>
          <p:cNvPr id="7" name="Rectangle 6"/>
          <p:cNvSpPr/>
          <p:nvPr/>
        </p:nvSpPr>
        <p:spPr>
          <a:xfrm>
            <a:off x="914400" y="2468880"/>
            <a:ext cx="1577339" cy="548640"/>
          </a:xfrm>
          <a:prstGeom prst="rect">
            <a:avLst/>
          </a:prstGeom>
          <a:solidFill>
            <a:srgbClr val="1D4ED8"/>
          </a:solidFill>
          <a:ln w="25400">
            <a:solidFill>
              <a:srgbClr val="0F294A"/>
            </a:solidFill>
          </a:ln>
        </p:spPr>
        <p:txBody>
          <a:bodyPr rtlCol="0" anchor="ctr"/>
          <a:lstStyle/>
          <a:p>
            <a:pPr algn="ctr"/>
          </a:p>
        </p:txBody>
      </p:sp>
      <p:cxnSp>
        <p:nvCxnSpPr>
          <p:cNvPr id="8" name="Connector 7"/>
          <p:cNvCxnSpPr/>
          <p:nvPr/>
        </p:nvCxnSpPr>
        <p:spPr>
          <a:xfrm>
            <a:off x="1440180" y="2468880"/>
            <a:ext cx="0" cy="5486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65960" y="2468880"/>
            <a:ext cx="0" cy="5486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91739" y="2468880"/>
            <a:ext cx="0" cy="5486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2011680"/>
            <a:ext cx="2103120" cy="457200"/>
          </a:xfrm>
          <a:prstGeom prst="rect">
            <a:avLst/>
          </a:prstGeom>
          <a:noFill/>
        </p:spPr>
        <p:txBody>
          <a:bodyPr wrap="square" anchor="ctr">
            <a:noAutofit/>
          </a:bodyPr>
          <a:lstStyle/>
          <a:p>
            <a:pPr algn="ctr"/>
            <a:r>
              <a:rPr sz="2000" b="1" i="0">
                <a:solidFill>
                  <a:srgbClr val="1F2937"/>
                </a:solidFill>
                <a:latin typeface="Calibri"/>
              </a:rPr>
              <a:t>3/4</a:t>
            </a:r>
          </a:p>
        </p:txBody>
      </p:sp>
      <p:sp>
        <p:nvSpPr>
          <p:cNvPr id="12" name="TextBox 11"/>
          <p:cNvSpPr txBox="1"/>
          <p:nvPr/>
        </p:nvSpPr>
        <p:spPr>
          <a:xfrm>
            <a:off x="914400" y="3474720"/>
            <a:ext cx="2103120" cy="365760"/>
          </a:xfrm>
          <a:prstGeom prst="rect">
            <a:avLst/>
          </a:prstGeom>
          <a:noFill/>
        </p:spPr>
        <p:txBody>
          <a:bodyPr wrap="square" anchor="t">
            <a:noAutofit/>
          </a:bodyPr>
          <a:lstStyle/>
          <a:p>
            <a:pPr algn="ctr"/>
            <a:r>
              <a:rPr sz="1800" b="0" i="0">
                <a:solidFill>
                  <a:srgbClr val="1F2937"/>
                </a:solidFill>
                <a:latin typeface="Calibri"/>
              </a:rPr>
              <a:t>Fraction: </a:t>
            </a:r>
            <a:r>
              <a:rPr sz="1800" b="1" i="0">
                <a:solidFill>
                  <a:srgbClr val="1F2937"/>
                </a:solidFill>
                <a:latin typeface="Calibri"/>
              </a:rPr>
              <a:t>3/4</a:t>
            </a:r>
          </a:p>
        </p:txBody>
      </p:sp>
      <p:sp>
        <p:nvSpPr>
          <p:cNvPr id="13" name="Rounded Rectangle 12"/>
          <p:cNvSpPr/>
          <p:nvPr/>
        </p:nvSpPr>
        <p:spPr>
          <a:xfrm>
            <a:off x="3474720" y="1737360"/>
            <a:ext cx="2468880" cy="219456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14" name="Rounded Rectangle 13"/>
          <p:cNvSpPr/>
          <p:nvPr/>
        </p:nvSpPr>
        <p:spPr>
          <a:xfrm>
            <a:off x="3657600" y="1874519"/>
            <a:ext cx="640080" cy="411480"/>
          </a:xfrm>
          <a:prstGeom prst="roundRect">
            <a:avLst>
              <a:gd name="adj" fmla="val 10000"/>
            </a:avLst>
          </a:prstGeom>
          <a:solidFill>
            <a:srgbClr val="1D4ED8"/>
          </a:solidFill>
          <a:ln>
            <a:noFill/>
          </a:ln>
        </p:spPr>
        <p:txBody>
          <a:bodyPr rtlCol="0" anchor="ctr" wrap="square">
            <a:noAutofit/>
          </a:bodyPr>
          <a:lstStyle/>
          <a:p>
            <a:pPr algn="ctr"/>
            <a:r>
              <a:rPr sz="2000" b="1" i="0">
                <a:solidFill>
                  <a:srgbClr val="FFFFFF"/>
                </a:solidFill>
                <a:latin typeface="Calibri"/>
              </a:rPr>
              <a:t>B</a:t>
            </a:r>
          </a:p>
        </p:txBody>
      </p:sp>
      <p:sp>
        <p:nvSpPr>
          <p:cNvPr id="15" name="Rectangle 14"/>
          <p:cNvSpPr/>
          <p:nvPr/>
        </p:nvSpPr>
        <p:spPr>
          <a:xfrm>
            <a:off x="3749039" y="2423160"/>
            <a:ext cx="1920240" cy="1005840"/>
          </a:xfrm>
          <a:prstGeom prst="rect">
            <a:avLst/>
          </a:prstGeom>
          <a:solidFill>
            <a:srgbClr val="FFFFFF"/>
          </a:solidFill>
          <a:ln w="25400">
            <a:solidFill>
              <a:srgbClr val="0F294A"/>
            </a:solidFill>
          </a:ln>
        </p:spPr>
        <p:txBody>
          <a:bodyPr rtlCol="0" anchor="ctr"/>
          <a:lstStyle/>
          <a:p>
            <a:pPr algn="ctr"/>
          </a:p>
        </p:txBody>
      </p:sp>
      <p:sp>
        <p:nvSpPr>
          <p:cNvPr id="16" name="Rectangle 15"/>
          <p:cNvSpPr/>
          <p:nvPr/>
        </p:nvSpPr>
        <p:spPr>
          <a:xfrm>
            <a:off x="3749039" y="2423160"/>
            <a:ext cx="640080" cy="1005840"/>
          </a:xfrm>
          <a:prstGeom prst="rect">
            <a:avLst/>
          </a:prstGeom>
          <a:solidFill>
            <a:srgbClr val="1D4ED8"/>
          </a:solidFill>
          <a:ln w="15240">
            <a:solidFill>
              <a:srgbClr val="0F294A"/>
            </a:solidFill>
          </a:ln>
        </p:spPr>
        <p:txBody>
          <a:bodyPr rtlCol="0" anchor="ctr"/>
          <a:lstStyle/>
          <a:p>
            <a:pPr algn="ctr"/>
          </a:p>
        </p:txBody>
      </p:sp>
      <p:sp>
        <p:nvSpPr>
          <p:cNvPr id="17" name="Rectangle 16"/>
          <p:cNvSpPr/>
          <p:nvPr/>
        </p:nvSpPr>
        <p:spPr>
          <a:xfrm>
            <a:off x="4389120" y="2423160"/>
            <a:ext cx="640080" cy="1005840"/>
          </a:xfrm>
          <a:prstGeom prst="rect">
            <a:avLst/>
          </a:prstGeom>
          <a:solidFill>
            <a:srgbClr val="1D4ED8"/>
          </a:solidFill>
          <a:ln w="15240">
            <a:solidFill>
              <a:srgbClr val="0F294A"/>
            </a:solidFill>
          </a:ln>
        </p:spPr>
        <p:txBody>
          <a:bodyPr rtlCol="0" anchor="ctr"/>
          <a:lstStyle/>
          <a:p>
            <a:pPr algn="ctr"/>
          </a:p>
        </p:txBody>
      </p:sp>
      <p:cxnSp>
        <p:nvCxnSpPr>
          <p:cNvPr id="18" name="Connector 17"/>
          <p:cNvCxnSpPr/>
          <p:nvPr/>
        </p:nvCxnSpPr>
        <p:spPr>
          <a:xfrm>
            <a:off x="4389120" y="2423160"/>
            <a:ext cx="0" cy="10058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029200" y="2423160"/>
            <a:ext cx="0" cy="10058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0" y="3474720"/>
            <a:ext cx="2103120" cy="365760"/>
          </a:xfrm>
          <a:prstGeom prst="rect">
            <a:avLst/>
          </a:prstGeom>
          <a:noFill/>
        </p:spPr>
        <p:txBody>
          <a:bodyPr wrap="square" anchor="t">
            <a:noAutofit/>
          </a:bodyPr>
          <a:lstStyle/>
          <a:p>
            <a:pPr algn="ctr"/>
            <a:r>
              <a:rPr sz="1800" b="0" i="0">
                <a:solidFill>
                  <a:srgbClr val="1F2937"/>
                </a:solidFill>
                <a:latin typeface="Calibri"/>
              </a:rPr>
              <a:t>Fraction: </a:t>
            </a:r>
            <a:r>
              <a:rPr sz="1800" b="1" i="0">
                <a:solidFill>
                  <a:srgbClr val="1F2937"/>
                </a:solidFill>
                <a:latin typeface="Calibri"/>
              </a:rPr>
              <a:t>2/3</a:t>
            </a:r>
          </a:p>
        </p:txBody>
      </p:sp>
      <p:sp>
        <p:nvSpPr>
          <p:cNvPr id="21" name="Rounded Rectangle 20"/>
          <p:cNvSpPr/>
          <p:nvPr/>
        </p:nvSpPr>
        <p:spPr>
          <a:xfrm>
            <a:off x="6217920" y="1737360"/>
            <a:ext cx="2468880" cy="219456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22" name="Rounded Rectangle 21"/>
          <p:cNvSpPr/>
          <p:nvPr/>
        </p:nvSpPr>
        <p:spPr>
          <a:xfrm>
            <a:off x="6400800" y="1874519"/>
            <a:ext cx="640080" cy="411480"/>
          </a:xfrm>
          <a:prstGeom prst="roundRect">
            <a:avLst>
              <a:gd name="adj" fmla="val 10000"/>
            </a:avLst>
          </a:prstGeom>
          <a:solidFill>
            <a:srgbClr val="1D4ED8"/>
          </a:solidFill>
          <a:ln>
            <a:noFill/>
          </a:ln>
        </p:spPr>
        <p:txBody>
          <a:bodyPr rtlCol="0" anchor="ctr" wrap="square">
            <a:noAutofit/>
          </a:bodyPr>
          <a:lstStyle/>
          <a:p>
            <a:pPr algn="ctr"/>
            <a:r>
              <a:rPr sz="2000" b="1" i="0">
                <a:solidFill>
                  <a:srgbClr val="FFFFFF"/>
                </a:solidFill>
                <a:latin typeface="Calibri"/>
              </a:rPr>
              <a:t>C</a:t>
            </a:r>
          </a:p>
        </p:txBody>
      </p:sp>
      <p:sp>
        <p:nvSpPr>
          <p:cNvPr id="23" name="Rectangle 22"/>
          <p:cNvSpPr/>
          <p:nvPr/>
        </p:nvSpPr>
        <p:spPr>
          <a:xfrm>
            <a:off x="6492240" y="2423160"/>
            <a:ext cx="1920240" cy="1005840"/>
          </a:xfrm>
          <a:prstGeom prst="rect">
            <a:avLst/>
          </a:prstGeom>
          <a:solidFill>
            <a:srgbClr val="FFFFFF"/>
          </a:solidFill>
          <a:ln w="25400">
            <a:solidFill>
              <a:srgbClr val="0F294A"/>
            </a:solidFill>
          </a:ln>
        </p:spPr>
        <p:txBody>
          <a:bodyPr rtlCol="0" anchor="ctr"/>
          <a:lstStyle/>
          <a:p>
            <a:pPr algn="ctr"/>
          </a:p>
        </p:txBody>
      </p:sp>
      <p:sp>
        <p:nvSpPr>
          <p:cNvPr id="24" name="Rectangle 23"/>
          <p:cNvSpPr/>
          <p:nvPr/>
        </p:nvSpPr>
        <p:spPr>
          <a:xfrm>
            <a:off x="6492240" y="2423160"/>
            <a:ext cx="640080" cy="502920"/>
          </a:xfrm>
          <a:prstGeom prst="rect">
            <a:avLst/>
          </a:prstGeom>
          <a:solidFill>
            <a:srgbClr val="1D4ED8"/>
          </a:solidFill>
          <a:ln w="15240">
            <a:solidFill>
              <a:srgbClr val="0F294A"/>
            </a:solidFill>
          </a:ln>
        </p:spPr>
        <p:txBody>
          <a:bodyPr rtlCol="0" anchor="ctr"/>
          <a:lstStyle/>
          <a:p>
            <a:pPr algn="ctr"/>
          </a:p>
        </p:txBody>
      </p:sp>
      <p:sp>
        <p:nvSpPr>
          <p:cNvPr id="25" name="Rectangle 24"/>
          <p:cNvSpPr/>
          <p:nvPr/>
        </p:nvSpPr>
        <p:spPr>
          <a:xfrm>
            <a:off x="7132320" y="2423160"/>
            <a:ext cx="640080" cy="502920"/>
          </a:xfrm>
          <a:prstGeom prst="rect">
            <a:avLst/>
          </a:prstGeom>
          <a:solidFill>
            <a:srgbClr val="1D4ED8"/>
          </a:solidFill>
          <a:ln w="15240">
            <a:solidFill>
              <a:srgbClr val="0F294A"/>
            </a:solidFill>
          </a:ln>
        </p:spPr>
        <p:txBody>
          <a:bodyPr rtlCol="0" anchor="ctr"/>
          <a:lstStyle/>
          <a:p>
            <a:pPr algn="ctr"/>
          </a:p>
        </p:txBody>
      </p:sp>
      <p:sp>
        <p:nvSpPr>
          <p:cNvPr id="26" name="Rectangle 25"/>
          <p:cNvSpPr/>
          <p:nvPr/>
        </p:nvSpPr>
        <p:spPr>
          <a:xfrm>
            <a:off x="7772400" y="2423160"/>
            <a:ext cx="640080" cy="502920"/>
          </a:xfrm>
          <a:prstGeom prst="rect">
            <a:avLst/>
          </a:prstGeom>
          <a:solidFill>
            <a:srgbClr val="1D4ED8"/>
          </a:solidFill>
          <a:ln w="15240">
            <a:solidFill>
              <a:srgbClr val="0F294A"/>
            </a:solidFill>
          </a:ln>
        </p:spPr>
        <p:txBody>
          <a:bodyPr rtlCol="0" anchor="ctr"/>
          <a:lstStyle/>
          <a:p>
            <a:pPr algn="ctr"/>
          </a:p>
        </p:txBody>
      </p:sp>
      <p:sp>
        <p:nvSpPr>
          <p:cNvPr id="27" name="Rectangle 26"/>
          <p:cNvSpPr/>
          <p:nvPr/>
        </p:nvSpPr>
        <p:spPr>
          <a:xfrm>
            <a:off x="6492240" y="2926080"/>
            <a:ext cx="640080" cy="502920"/>
          </a:xfrm>
          <a:prstGeom prst="rect">
            <a:avLst/>
          </a:prstGeom>
          <a:solidFill>
            <a:srgbClr val="1D4ED8"/>
          </a:solidFill>
          <a:ln w="15240">
            <a:solidFill>
              <a:srgbClr val="0F294A"/>
            </a:solidFill>
          </a:ln>
        </p:spPr>
        <p:txBody>
          <a:bodyPr rtlCol="0" anchor="ctr"/>
          <a:lstStyle/>
          <a:p>
            <a:pPr algn="ctr"/>
          </a:p>
        </p:txBody>
      </p:sp>
      <p:cxnSp>
        <p:nvCxnSpPr>
          <p:cNvPr id="28" name="Connector 27"/>
          <p:cNvCxnSpPr/>
          <p:nvPr/>
        </p:nvCxnSpPr>
        <p:spPr>
          <a:xfrm>
            <a:off x="6492240" y="2926080"/>
            <a:ext cx="1920240" cy="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132320" y="2423160"/>
            <a:ext cx="0" cy="10058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772400" y="2423160"/>
            <a:ext cx="0" cy="10058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0" y="3474720"/>
            <a:ext cx="2103120" cy="365760"/>
          </a:xfrm>
          <a:prstGeom prst="rect">
            <a:avLst/>
          </a:prstGeom>
          <a:noFill/>
        </p:spPr>
        <p:txBody>
          <a:bodyPr wrap="square" anchor="t">
            <a:noAutofit/>
          </a:bodyPr>
          <a:lstStyle/>
          <a:p>
            <a:pPr algn="ctr"/>
            <a:r>
              <a:rPr sz="1800" b="0" i="0">
                <a:solidFill>
                  <a:srgbClr val="1F2937"/>
                </a:solidFill>
                <a:latin typeface="Calibri"/>
              </a:rPr>
              <a:t>Fraction: </a:t>
            </a:r>
            <a:r>
              <a:rPr sz="1800" b="1" i="0">
                <a:solidFill>
                  <a:srgbClr val="1F2937"/>
                </a:solidFill>
                <a:latin typeface="Calibri"/>
              </a:rPr>
              <a:t>4/6</a:t>
            </a:r>
          </a:p>
        </p:txBody>
      </p:sp>
      <p:sp>
        <p:nvSpPr>
          <p:cNvPr id="32" name="Rounded Rectangle 31"/>
          <p:cNvSpPr/>
          <p:nvPr/>
        </p:nvSpPr>
        <p:spPr>
          <a:xfrm>
            <a:off x="8961120" y="1737360"/>
            <a:ext cx="2468880" cy="219456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33" name="Rounded Rectangle 32"/>
          <p:cNvSpPr/>
          <p:nvPr/>
        </p:nvSpPr>
        <p:spPr>
          <a:xfrm>
            <a:off x="9144000" y="1874519"/>
            <a:ext cx="640080" cy="411480"/>
          </a:xfrm>
          <a:prstGeom prst="roundRect">
            <a:avLst>
              <a:gd name="adj" fmla="val 10000"/>
            </a:avLst>
          </a:prstGeom>
          <a:solidFill>
            <a:srgbClr val="1D4ED8"/>
          </a:solidFill>
          <a:ln>
            <a:noFill/>
          </a:ln>
        </p:spPr>
        <p:txBody>
          <a:bodyPr rtlCol="0" anchor="ctr" wrap="square">
            <a:noAutofit/>
          </a:bodyPr>
          <a:lstStyle/>
          <a:p>
            <a:pPr algn="ctr"/>
            <a:r>
              <a:rPr sz="2000" b="1" i="0">
                <a:solidFill>
                  <a:srgbClr val="FFFFFF"/>
                </a:solidFill>
                <a:latin typeface="Calibri"/>
              </a:rPr>
              <a:t>D</a:t>
            </a:r>
          </a:p>
        </p:txBody>
      </p:sp>
      <p:sp>
        <p:nvSpPr>
          <p:cNvPr id="34" name="Rectangle 33"/>
          <p:cNvSpPr/>
          <p:nvPr/>
        </p:nvSpPr>
        <p:spPr>
          <a:xfrm>
            <a:off x="9144000" y="2468880"/>
            <a:ext cx="2103120" cy="548640"/>
          </a:xfrm>
          <a:prstGeom prst="rect">
            <a:avLst/>
          </a:prstGeom>
          <a:solidFill>
            <a:srgbClr val="FFFFFF"/>
          </a:solidFill>
          <a:ln w="25400">
            <a:solidFill>
              <a:srgbClr val="0F294A"/>
            </a:solidFill>
          </a:ln>
        </p:spPr>
        <p:txBody>
          <a:bodyPr rtlCol="0" anchor="ctr"/>
          <a:lstStyle/>
          <a:p>
            <a:pPr algn="ctr"/>
          </a:p>
        </p:txBody>
      </p:sp>
      <p:sp>
        <p:nvSpPr>
          <p:cNvPr id="35" name="Rectangle 34"/>
          <p:cNvSpPr/>
          <p:nvPr/>
        </p:nvSpPr>
        <p:spPr>
          <a:xfrm>
            <a:off x="9144000" y="2468880"/>
            <a:ext cx="1577339" cy="548640"/>
          </a:xfrm>
          <a:prstGeom prst="rect">
            <a:avLst/>
          </a:prstGeom>
          <a:solidFill>
            <a:srgbClr val="1D4ED8"/>
          </a:solidFill>
          <a:ln w="25400">
            <a:solidFill>
              <a:srgbClr val="0F294A"/>
            </a:solidFill>
          </a:ln>
        </p:spPr>
        <p:txBody>
          <a:bodyPr rtlCol="0" anchor="ctr"/>
          <a:lstStyle/>
          <a:p>
            <a:pPr algn="ctr"/>
          </a:p>
        </p:txBody>
      </p:sp>
      <p:cxnSp>
        <p:nvCxnSpPr>
          <p:cNvPr id="36" name="Connector 35"/>
          <p:cNvCxnSpPr/>
          <p:nvPr/>
        </p:nvCxnSpPr>
        <p:spPr>
          <a:xfrm>
            <a:off x="9406890" y="2468880"/>
            <a:ext cx="0" cy="5486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669780" y="2468880"/>
            <a:ext cx="0" cy="5486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932670" y="2468880"/>
            <a:ext cx="0" cy="5486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195560" y="2468880"/>
            <a:ext cx="0" cy="5486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458450" y="2468880"/>
            <a:ext cx="0" cy="5486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721340" y="2468880"/>
            <a:ext cx="0" cy="5486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984230" y="2468880"/>
            <a:ext cx="0" cy="54864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144000" y="2011680"/>
            <a:ext cx="2103120" cy="457200"/>
          </a:xfrm>
          <a:prstGeom prst="rect">
            <a:avLst/>
          </a:prstGeom>
          <a:noFill/>
        </p:spPr>
        <p:txBody>
          <a:bodyPr wrap="square" anchor="ctr">
            <a:noAutofit/>
          </a:bodyPr>
          <a:lstStyle/>
          <a:p>
            <a:pPr algn="ctr"/>
            <a:r>
              <a:rPr sz="2000" b="1" i="0">
                <a:solidFill>
                  <a:srgbClr val="1F2937"/>
                </a:solidFill>
                <a:latin typeface="Calibri"/>
              </a:rPr>
              <a:t>6/8</a:t>
            </a:r>
          </a:p>
        </p:txBody>
      </p:sp>
      <p:sp>
        <p:nvSpPr>
          <p:cNvPr id="44" name="TextBox 43"/>
          <p:cNvSpPr txBox="1"/>
          <p:nvPr/>
        </p:nvSpPr>
        <p:spPr>
          <a:xfrm>
            <a:off x="9144000" y="3474720"/>
            <a:ext cx="2103120" cy="365760"/>
          </a:xfrm>
          <a:prstGeom prst="rect">
            <a:avLst/>
          </a:prstGeom>
          <a:noFill/>
        </p:spPr>
        <p:txBody>
          <a:bodyPr wrap="square" anchor="t">
            <a:noAutofit/>
          </a:bodyPr>
          <a:lstStyle/>
          <a:p>
            <a:pPr algn="ctr"/>
            <a:r>
              <a:rPr sz="1800" b="0" i="0">
                <a:solidFill>
                  <a:srgbClr val="1F2937"/>
                </a:solidFill>
                <a:latin typeface="Calibri"/>
              </a:rPr>
              <a:t>Fraction: </a:t>
            </a:r>
            <a:r>
              <a:rPr sz="1800" b="1" i="0">
                <a:solidFill>
                  <a:srgbClr val="1F2937"/>
                </a:solidFill>
                <a:latin typeface="Calibri"/>
              </a:rPr>
              <a:t>6/8</a:t>
            </a:r>
          </a:p>
        </p:txBody>
      </p:sp>
      <p:sp>
        <p:nvSpPr>
          <p:cNvPr id="45" name="Rounded Rectangle 44"/>
          <p:cNvSpPr/>
          <p:nvPr/>
        </p:nvSpPr>
        <p:spPr>
          <a:xfrm>
            <a:off x="731520" y="4114800"/>
            <a:ext cx="10698480" cy="2103120"/>
          </a:xfrm>
          <a:prstGeom prst="roundRect">
            <a:avLst>
              <a:gd name="adj" fmla="val 8000"/>
            </a:avLst>
          </a:prstGeom>
          <a:solidFill>
            <a:srgbClr val="FEF3C7"/>
          </a:solidFill>
          <a:ln w="19050">
            <a:solidFill>
              <a:srgbClr val="FDE68A"/>
            </a:solidFill>
          </a:ln>
        </p:spPr>
        <p:txBody>
          <a:bodyPr rtlCol="0" anchor="ctr"/>
          <a:lstStyle/>
          <a:p>
            <a:pPr algn="ctr"/>
          </a:p>
        </p:txBody>
      </p:sp>
      <p:sp>
        <p:nvSpPr>
          <p:cNvPr id="46" name="TextBox 45"/>
          <p:cNvSpPr txBox="1"/>
          <p:nvPr/>
        </p:nvSpPr>
        <p:spPr>
          <a:xfrm>
            <a:off x="1005840" y="4251960"/>
            <a:ext cx="10149840" cy="411480"/>
          </a:xfrm>
          <a:prstGeom prst="rect">
            <a:avLst/>
          </a:prstGeom>
          <a:noFill/>
        </p:spPr>
        <p:txBody>
          <a:bodyPr wrap="square" anchor="t">
            <a:noAutofit/>
          </a:bodyPr>
          <a:lstStyle/>
          <a:p>
            <a:pPr algn="l"/>
            <a:r>
              <a:rPr sz="2200" b="1" i="0">
                <a:solidFill>
                  <a:srgbClr val="D97706"/>
                </a:solidFill>
                <a:latin typeface="Calibri"/>
              </a:rPr>
              <a:t>💬 Class Discussion &amp; Match</a:t>
            </a:r>
          </a:p>
        </p:txBody>
      </p:sp>
      <p:sp>
        <p:nvSpPr>
          <p:cNvPr id="47" name="TextBox 46"/>
          <p:cNvSpPr txBox="1"/>
          <p:nvPr/>
        </p:nvSpPr>
        <p:spPr>
          <a:xfrm>
            <a:off x="1005840" y="4709160"/>
            <a:ext cx="10149840" cy="1371600"/>
          </a:xfrm>
          <a:prstGeom prst="rect">
            <a:avLst/>
          </a:prstGeom>
          <a:noFill/>
        </p:spPr>
        <p:txBody>
          <a:bodyPr wrap="square" anchor="t">
            <a:noAutofit/>
          </a:bodyPr>
          <a:lstStyle/>
          <a:p>
            <a:pPr algn="l">
              <a:spcAft>
                <a:spcPts val="500"/>
              </a:spcAft>
            </a:pPr>
            <a:r>
              <a:rPr sz="2000" b="0" i="0">
                <a:solidFill>
                  <a:srgbClr val="1F2937"/>
                </a:solidFill>
                <a:latin typeface="Calibri"/>
              </a:rPr>
              <a:t>1. </a:t>
            </a:r>
            <a:r>
              <a:rPr sz="2000" b="1" i="0">
                <a:solidFill>
                  <a:srgbClr val="1F2937"/>
                </a:solidFill>
                <a:latin typeface="Calibri"/>
              </a:rPr>
              <a:t>Which two cards represent the same value as Card A (3/4)?</a:t>
            </a:r>
          </a:p>
          <a:p>
            <a:pPr algn="l">
              <a:spcAft>
                <a:spcPts val="500"/>
              </a:spcAft>
            </a:pPr>
            <a:r>
              <a:rPr sz="2000" b="0" i="0">
                <a:solidFill>
                  <a:srgbClr val="1F2937"/>
                </a:solidFill>
                <a:latin typeface="Calibri"/>
              </a:rPr>
              <a:t>   → Look at the shaded length: Card A (3/4) matches Card D (6/8)!</a:t>
            </a:r>
          </a:p>
          <a:p>
            <a:pPr algn="l">
              <a:spcAft>
                <a:spcPts val="500"/>
              </a:spcAft>
            </a:pPr>
            <a:r>
              <a:rPr sz="2000" b="0" i="0">
                <a:solidFill>
                  <a:srgbClr val="1F2937"/>
                </a:solidFill>
                <a:latin typeface="Calibri"/>
              </a:rPr>
              <a:t>2. </a:t>
            </a:r>
            <a:r>
              <a:rPr sz="2000" b="1" i="0">
                <a:solidFill>
                  <a:srgbClr val="1F2937"/>
                </a:solidFill>
                <a:latin typeface="Calibri"/>
              </a:rPr>
              <a:t>Which two cards represent the same value as Card B (2/3)?</a:t>
            </a:r>
          </a:p>
          <a:p>
            <a:pPr algn="l"/>
            <a:r>
              <a:rPr sz="2000" b="0" i="0">
                <a:solidFill>
                  <a:srgbClr val="1F2937"/>
                </a:solidFill>
                <a:latin typeface="Calibri"/>
              </a:rPr>
              <a:t>   → Look at the partitioned grid: Card B (2/3) matches Card C (4/6)!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365760"/>
            <a:ext cx="10698480" cy="731520"/>
          </a:xfrm>
        </p:spPr>
        <p:txBody>
          <a:bodyPr wrap="square" anchor="ctr">
            <a:noAutofit/>
          </a:bodyPr>
          <a:lstStyle/>
          <a:p>
            <a:pPr algn="l"/>
            <a:r>
              <a:rPr sz="3600" b="1" i="0">
                <a:solidFill>
                  <a:srgbClr val="1F2937"/>
                </a:solidFill>
                <a:latin typeface="Calibri"/>
              </a:rPr>
              <a:t>Misconception Buster: Spot the Imposter!</a:t>
            </a:r>
          </a:p>
        </p:txBody>
      </p:sp>
      <p:sp>
        <p:nvSpPr>
          <p:cNvPr id="3" name="Rounded Rectangle 2"/>
          <p:cNvSpPr/>
          <p:nvPr/>
        </p:nvSpPr>
        <p:spPr>
          <a:xfrm>
            <a:off x="731520" y="1188720"/>
            <a:ext cx="2926080" cy="502920"/>
          </a:xfrm>
          <a:prstGeom prst="roundRect">
            <a:avLst>
              <a:gd name="adj" fmla="val 50000"/>
            </a:avLst>
          </a:prstGeom>
          <a:solidFill>
            <a:srgbClr val="DC2626"/>
          </a:solidFill>
          <a:ln>
            <a:noFill/>
          </a:ln>
        </p:spPr>
        <p:txBody>
          <a:bodyPr rtlCol="0" anchor="ctr" wrap="square">
            <a:noAutofit/>
          </a:bodyPr>
          <a:lstStyle/>
          <a:p>
            <a:pPr algn="ctr"/>
            <a:r>
              <a:rPr sz="1800" b="1" i="0">
                <a:solidFill>
                  <a:srgbClr val="FFFFFF"/>
                </a:solidFill>
                <a:latin typeface="Calibri"/>
              </a:rPr>
              <a:t>WE DO: CRITICAL THINKING</a:t>
            </a:r>
          </a:p>
        </p:txBody>
      </p:sp>
      <p:sp>
        <p:nvSpPr>
          <p:cNvPr id="4" name="Rounded Rectangle 3"/>
          <p:cNvSpPr/>
          <p:nvPr/>
        </p:nvSpPr>
        <p:spPr>
          <a:xfrm>
            <a:off x="731520" y="1737360"/>
            <a:ext cx="3291840" cy="292608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5" name="Rounded Rectangle 4"/>
          <p:cNvSpPr/>
          <p:nvPr/>
        </p:nvSpPr>
        <p:spPr>
          <a:xfrm>
            <a:off x="914400" y="1874519"/>
            <a:ext cx="1463040" cy="365760"/>
          </a:xfrm>
          <a:prstGeom prst="roundRect">
            <a:avLst>
              <a:gd name="adj" fmla="val 10000"/>
            </a:avLst>
          </a:prstGeom>
          <a:solidFill>
            <a:srgbClr val="1D4ED8"/>
          </a:solidFill>
          <a:ln>
            <a:noFill/>
          </a:ln>
        </p:spPr>
        <p:txBody>
          <a:bodyPr rtlCol="0" anchor="ctr" wrap="square">
            <a:noAutofit/>
          </a:bodyPr>
          <a:lstStyle/>
          <a:p>
            <a:pPr algn="ctr"/>
            <a:r>
              <a:rPr sz="1800" b="1" i="0">
                <a:solidFill>
                  <a:srgbClr val="FFFFFF"/>
                </a:solidFill>
                <a:latin typeface="Calibri"/>
              </a:rPr>
              <a:t>Model 1</a:t>
            </a:r>
          </a:p>
        </p:txBody>
      </p:sp>
      <p:sp>
        <p:nvSpPr>
          <p:cNvPr id="6" name="Rectangle 5"/>
          <p:cNvSpPr/>
          <p:nvPr/>
        </p:nvSpPr>
        <p:spPr>
          <a:xfrm>
            <a:off x="1005840" y="2468880"/>
            <a:ext cx="2743200" cy="640080"/>
          </a:xfrm>
          <a:prstGeom prst="rect">
            <a:avLst/>
          </a:prstGeom>
          <a:solidFill>
            <a:srgbClr val="FFFFFF"/>
          </a:solidFill>
          <a:ln w="25400">
            <a:solidFill>
              <a:srgbClr val="0F294A"/>
            </a:solidFill>
          </a:ln>
        </p:spPr>
        <p:txBody>
          <a:bodyPr rtlCol="0" anchor="ctr"/>
          <a:lstStyle/>
          <a:p>
            <a:pPr algn="ctr"/>
          </a:p>
        </p:txBody>
      </p:sp>
      <p:sp>
        <p:nvSpPr>
          <p:cNvPr id="7" name="Rectangle 6"/>
          <p:cNvSpPr/>
          <p:nvPr/>
        </p:nvSpPr>
        <p:spPr>
          <a:xfrm>
            <a:off x="1005840" y="2468880"/>
            <a:ext cx="1371600" cy="640080"/>
          </a:xfrm>
          <a:prstGeom prst="rect">
            <a:avLst/>
          </a:prstGeom>
          <a:solidFill>
            <a:srgbClr val="1D4ED8"/>
          </a:solidFill>
          <a:ln w="25400">
            <a:solidFill>
              <a:srgbClr val="0F294A"/>
            </a:solidFill>
          </a:ln>
        </p:spPr>
        <p:txBody>
          <a:bodyPr rtlCol="0" anchor="ctr"/>
          <a:lstStyle/>
          <a:p>
            <a:pPr algn="ctr"/>
          </a:p>
        </p:txBody>
      </p:sp>
      <p:cxnSp>
        <p:nvCxnSpPr>
          <p:cNvPr id="8" name="Connector 7"/>
          <p:cNvCxnSpPr/>
          <p:nvPr/>
        </p:nvCxnSpPr>
        <p:spPr>
          <a:xfrm>
            <a:off x="1691640" y="2468880"/>
            <a:ext cx="0" cy="64008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377440" y="2468880"/>
            <a:ext cx="0" cy="64008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063240" y="2468880"/>
            <a:ext cx="0" cy="64008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3291840"/>
            <a:ext cx="2926080" cy="1097280"/>
          </a:xfrm>
          <a:prstGeom prst="rect">
            <a:avLst/>
          </a:prstGeom>
          <a:noFill/>
        </p:spPr>
        <p:txBody>
          <a:bodyPr wrap="square" anchor="t">
            <a:noAutofit/>
          </a:bodyPr>
          <a:lstStyle/>
          <a:p>
            <a:pPr algn="l">
              <a:spcAft>
                <a:spcPts val="500"/>
              </a:spcAft>
            </a:pPr>
            <a:r>
              <a:rPr sz="1800" b="0" i="0">
                <a:solidFill>
                  <a:srgbClr val="1F2937"/>
                </a:solidFill>
                <a:latin typeface="Calibri"/>
              </a:rPr>
              <a:t>• 2 out of 4 parts shaded</a:t>
            </a:r>
          </a:p>
          <a:p>
            <a:pPr algn="l">
              <a:spcAft>
                <a:spcPts val="500"/>
              </a:spcAft>
            </a:pPr>
            <a:r>
              <a:rPr sz="1800" b="0" i="0">
                <a:solidFill>
                  <a:srgbClr val="1F2937"/>
                </a:solidFill>
                <a:latin typeface="Calibri"/>
              </a:rPr>
              <a:t>• All 4 parts are </a:t>
            </a:r>
            <a:r>
              <a:rPr sz="1800" b="1" i="0">
                <a:solidFill>
                  <a:srgbClr val="1F2937"/>
                </a:solidFill>
                <a:latin typeface="Calibri"/>
              </a:rPr>
              <a:t>equal</a:t>
            </a:r>
          </a:p>
          <a:p>
            <a:pPr algn="l"/>
            <a:r>
              <a:rPr sz="1800" b="0" i="0">
                <a:solidFill>
                  <a:srgbClr val="1F2937"/>
                </a:solidFill>
                <a:latin typeface="Calibri"/>
              </a:rPr>
              <a:t>• </a:t>
            </a:r>
            <a:r>
              <a:rPr sz="1800" b="1" i="0">
                <a:solidFill>
                  <a:srgbClr val="1F2937"/>
                </a:solidFill>
                <a:latin typeface="Calibri"/>
              </a:rPr>
              <a:t>Equivalent to 1/2!</a:t>
            </a:r>
            <a:r>
              <a:rPr sz="1800" b="0" i="0">
                <a:solidFill>
                  <a:srgbClr val="1F2937"/>
                </a:solidFill>
                <a:latin typeface="Calibri"/>
              </a:rPr>
              <a:t> ✅</a:t>
            </a:r>
          </a:p>
        </p:txBody>
      </p:sp>
      <p:sp>
        <p:nvSpPr>
          <p:cNvPr id="12" name="Rounded Rectangle 11"/>
          <p:cNvSpPr/>
          <p:nvPr/>
        </p:nvSpPr>
        <p:spPr>
          <a:xfrm>
            <a:off x="4434840" y="1737360"/>
            <a:ext cx="3291840" cy="2926080"/>
          </a:xfrm>
          <a:prstGeom prst="roundRect">
            <a:avLst>
              <a:gd name="adj" fmla="val 8000"/>
            </a:avLst>
          </a:prstGeom>
          <a:solidFill>
            <a:srgbClr val="FEF2F2"/>
          </a:solidFill>
          <a:ln w="19050">
            <a:solidFill>
              <a:srgbClr val="FECACA"/>
            </a:solidFill>
          </a:ln>
        </p:spPr>
        <p:txBody>
          <a:bodyPr rtlCol="0" anchor="ctr"/>
          <a:lstStyle/>
          <a:p>
            <a:pPr algn="ctr"/>
          </a:p>
        </p:txBody>
      </p:sp>
      <p:sp>
        <p:nvSpPr>
          <p:cNvPr id="13" name="Rounded Rectangle 12"/>
          <p:cNvSpPr/>
          <p:nvPr/>
        </p:nvSpPr>
        <p:spPr>
          <a:xfrm>
            <a:off x="4617720" y="1874519"/>
            <a:ext cx="1463040" cy="365760"/>
          </a:xfrm>
          <a:prstGeom prst="roundRect">
            <a:avLst>
              <a:gd name="adj" fmla="val 10000"/>
            </a:avLst>
          </a:prstGeom>
          <a:solidFill>
            <a:srgbClr val="DC2626"/>
          </a:solidFill>
          <a:ln>
            <a:noFill/>
          </a:ln>
        </p:spPr>
        <p:txBody>
          <a:bodyPr rtlCol="0" anchor="ctr" wrap="square">
            <a:noAutofit/>
          </a:bodyPr>
          <a:lstStyle/>
          <a:p>
            <a:pPr algn="ctr"/>
            <a:r>
              <a:rPr sz="1800" b="1" i="0">
                <a:solidFill>
                  <a:srgbClr val="FFFFFF"/>
                </a:solidFill>
                <a:latin typeface="Calibri"/>
              </a:rPr>
              <a:t>Model 2</a:t>
            </a:r>
          </a:p>
        </p:txBody>
      </p:sp>
      <p:sp>
        <p:nvSpPr>
          <p:cNvPr id="14" name="Rectangle 13"/>
          <p:cNvSpPr/>
          <p:nvPr/>
        </p:nvSpPr>
        <p:spPr>
          <a:xfrm>
            <a:off x="4709160" y="2468880"/>
            <a:ext cx="2743200" cy="640080"/>
          </a:xfrm>
          <a:prstGeom prst="rect">
            <a:avLst/>
          </a:prstGeom>
          <a:solidFill>
            <a:srgbClr val="FFFFFF"/>
          </a:solidFill>
          <a:ln w="25400">
            <a:solidFill>
              <a:srgbClr val="DC2626"/>
            </a:solidFill>
          </a:ln>
        </p:spPr>
        <p:txBody>
          <a:bodyPr rtlCol="0" anchor="ctr"/>
          <a:lstStyle/>
          <a:p>
            <a:pPr algn="ctr"/>
          </a:p>
        </p:txBody>
      </p:sp>
      <p:sp>
        <p:nvSpPr>
          <p:cNvPr id="15" name="Rectangle 14"/>
          <p:cNvSpPr/>
          <p:nvPr/>
        </p:nvSpPr>
        <p:spPr>
          <a:xfrm>
            <a:off x="4709160" y="2468880"/>
            <a:ext cx="731520" cy="640080"/>
          </a:xfrm>
          <a:prstGeom prst="rect">
            <a:avLst/>
          </a:prstGeom>
          <a:solidFill>
            <a:srgbClr val="F87171"/>
          </a:solidFill>
          <a:ln w="19050">
            <a:solidFill>
              <a:srgbClr val="DC2626"/>
            </a:solidFill>
          </a:ln>
        </p:spPr>
        <p:txBody>
          <a:bodyPr rtlCol="0" anchor="ctr"/>
          <a:lstStyle/>
          <a:p>
            <a:pPr algn="ctr"/>
          </a:p>
        </p:txBody>
      </p:sp>
      <p:cxnSp>
        <p:nvCxnSpPr>
          <p:cNvPr id="16" name="Connector 15"/>
          <p:cNvCxnSpPr/>
          <p:nvPr/>
        </p:nvCxnSpPr>
        <p:spPr>
          <a:xfrm>
            <a:off x="5440680" y="2468880"/>
            <a:ext cx="0" cy="64008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89320" y="2468880"/>
            <a:ext cx="0" cy="64008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720840" y="2468880"/>
            <a:ext cx="0" cy="64008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617720" y="3291840"/>
            <a:ext cx="2926080" cy="1097280"/>
          </a:xfrm>
          <a:prstGeom prst="rect">
            <a:avLst/>
          </a:prstGeom>
          <a:noFill/>
        </p:spPr>
        <p:txBody>
          <a:bodyPr wrap="square" anchor="t">
            <a:noAutofit/>
          </a:bodyPr>
          <a:lstStyle/>
          <a:p>
            <a:pPr algn="l">
              <a:spcAft>
                <a:spcPts val="500"/>
              </a:spcAft>
            </a:pPr>
            <a:r>
              <a:rPr sz="1800" b="0" i="0">
                <a:solidFill>
                  <a:srgbClr val="1F2937"/>
                </a:solidFill>
                <a:latin typeface="Calibri"/>
              </a:rPr>
              <a:t>• 2 parts shaded out of 4</a:t>
            </a:r>
          </a:p>
          <a:p>
            <a:pPr algn="l">
              <a:spcAft>
                <a:spcPts val="500"/>
              </a:spcAft>
            </a:pPr>
            <a:r>
              <a:rPr sz="1800" b="0" i="0">
                <a:solidFill>
                  <a:srgbClr val="1F2937"/>
                </a:solidFill>
                <a:latin typeface="Calibri"/>
              </a:rPr>
              <a:t>• Parts are </a:t>
            </a:r>
            <a:r>
              <a:rPr sz="1800" b="1" i="0">
                <a:solidFill>
                  <a:srgbClr val="1F2937"/>
                </a:solidFill>
                <a:latin typeface="Calibri"/>
              </a:rPr>
              <a:t>NOT equal</a:t>
            </a:r>
            <a:r>
              <a:rPr sz="1800" b="0" i="0">
                <a:solidFill>
                  <a:srgbClr val="1F2937"/>
                </a:solidFill>
                <a:latin typeface="Calibri"/>
              </a:rPr>
              <a:t>!</a:t>
            </a:r>
          </a:p>
          <a:p>
            <a:pPr algn="l"/>
            <a:r>
              <a:rPr sz="1800" b="0" i="0">
                <a:solidFill>
                  <a:srgbClr val="1F2937"/>
                </a:solidFill>
                <a:latin typeface="Calibri"/>
              </a:rPr>
              <a:t>• </a:t>
            </a:r>
            <a:r>
              <a:rPr sz="1800" b="1" i="0">
                <a:solidFill>
                  <a:srgbClr val="1F2937"/>
                </a:solidFill>
                <a:latin typeface="Calibri"/>
              </a:rPr>
              <a:t>IMPOSTER! ❌</a:t>
            </a:r>
            <a:r>
              <a:rPr sz="1800" b="0" i="0">
                <a:solidFill>
                  <a:srgbClr val="1F2937"/>
                </a:solidFill>
                <a:latin typeface="Calibri"/>
              </a:rPr>
              <a:t> [10]</a:t>
            </a:r>
          </a:p>
        </p:txBody>
      </p:sp>
      <p:sp>
        <p:nvSpPr>
          <p:cNvPr id="20" name="Rounded Rectangle 19"/>
          <p:cNvSpPr/>
          <p:nvPr/>
        </p:nvSpPr>
        <p:spPr>
          <a:xfrm>
            <a:off x="8138160" y="1737360"/>
            <a:ext cx="3291840" cy="292608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21" name="Rounded Rectangle 20"/>
          <p:cNvSpPr/>
          <p:nvPr/>
        </p:nvSpPr>
        <p:spPr>
          <a:xfrm>
            <a:off x="8321040" y="1874519"/>
            <a:ext cx="1463040" cy="365760"/>
          </a:xfrm>
          <a:prstGeom prst="roundRect">
            <a:avLst>
              <a:gd name="adj" fmla="val 10000"/>
            </a:avLst>
          </a:prstGeom>
          <a:solidFill>
            <a:srgbClr val="1D4ED8"/>
          </a:solidFill>
          <a:ln>
            <a:noFill/>
          </a:ln>
        </p:spPr>
        <p:txBody>
          <a:bodyPr rtlCol="0" anchor="ctr" wrap="square">
            <a:noAutofit/>
          </a:bodyPr>
          <a:lstStyle/>
          <a:p>
            <a:pPr algn="ctr"/>
            <a:r>
              <a:rPr sz="1800" b="1" i="0">
                <a:solidFill>
                  <a:srgbClr val="FFFFFF"/>
                </a:solidFill>
                <a:latin typeface="Calibri"/>
              </a:rPr>
              <a:t>Model 3</a:t>
            </a:r>
          </a:p>
        </p:txBody>
      </p:sp>
      <p:sp>
        <p:nvSpPr>
          <p:cNvPr id="22" name="Rectangle 21"/>
          <p:cNvSpPr/>
          <p:nvPr/>
        </p:nvSpPr>
        <p:spPr>
          <a:xfrm>
            <a:off x="8412480" y="2468880"/>
            <a:ext cx="2743200" cy="640080"/>
          </a:xfrm>
          <a:prstGeom prst="rect">
            <a:avLst/>
          </a:prstGeom>
          <a:solidFill>
            <a:srgbClr val="FFFFFF"/>
          </a:solidFill>
          <a:ln w="25400">
            <a:solidFill>
              <a:srgbClr val="0F294A"/>
            </a:solidFill>
          </a:ln>
        </p:spPr>
        <p:txBody>
          <a:bodyPr rtlCol="0" anchor="ctr"/>
          <a:lstStyle/>
          <a:p>
            <a:pPr algn="ctr"/>
          </a:p>
        </p:txBody>
      </p:sp>
      <p:sp>
        <p:nvSpPr>
          <p:cNvPr id="23" name="Rectangle 22"/>
          <p:cNvSpPr/>
          <p:nvPr/>
        </p:nvSpPr>
        <p:spPr>
          <a:xfrm>
            <a:off x="8412480" y="2468880"/>
            <a:ext cx="1371600" cy="640080"/>
          </a:xfrm>
          <a:prstGeom prst="rect">
            <a:avLst/>
          </a:prstGeom>
          <a:solidFill>
            <a:srgbClr val="1D4ED8"/>
          </a:solidFill>
          <a:ln w="25400">
            <a:solidFill>
              <a:srgbClr val="0F294A"/>
            </a:solidFill>
          </a:ln>
        </p:spPr>
        <p:txBody>
          <a:bodyPr rtlCol="0" anchor="ctr"/>
          <a:lstStyle/>
          <a:p>
            <a:pPr algn="ctr"/>
          </a:p>
        </p:txBody>
      </p:sp>
      <p:cxnSp>
        <p:nvCxnSpPr>
          <p:cNvPr id="24" name="Connector 23"/>
          <p:cNvCxnSpPr/>
          <p:nvPr/>
        </p:nvCxnSpPr>
        <p:spPr>
          <a:xfrm>
            <a:off x="8869680" y="2468880"/>
            <a:ext cx="0" cy="64008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326880" y="2468880"/>
            <a:ext cx="0" cy="64008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784080" y="2468880"/>
            <a:ext cx="0" cy="64008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241280" y="2468880"/>
            <a:ext cx="0" cy="64008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698480" y="2468880"/>
            <a:ext cx="0" cy="64008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321040" y="3291840"/>
            <a:ext cx="2926080" cy="1097280"/>
          </a:xfrm>
          <a:prstGeom prst="rect">
            <a:avLst/>
          </a:prstGeom>
          <a:noFill/>
        </p:spPr>
        <p:txBody>
          <a:bodyPr wrap="square" anchor="t">
            <a:noAutofit/>
          </a:bodyPr>
          <a:lstStyle/>
          <a:p>
            <a:pPr algn="l">
              <a:spcAft>
                <a:spcPts val="500"/>
              </a:spcAft>
            </a:pPr>
            <a:r>
              <a:rPr sz="1800" b="0" i="0">
                <a:solidFill>
                  <a:srgbClr val="1F2937"/>
                </a:solidFill>
                <a:latin typeface="Calibri"/>
              </a:rPr>
              <a:t>• 3 out of 6 parts shaded</a:t>
            </a:r>
          </a:p>
          <a:p>
            <a:pPr algn="l">
              <a:spcAft>
                <a:spcPts val="500"/>
              </a:spcAft>
            </a:pPr>
            <a:r>
              <a:rPr sz="1800" b="0" i="0">
                <a:solidFill>
                  <a:srgbClr val="1F2937"/>
                </a:solidFill>
                <a:latin typeface="Calibri"/>
              </a:rPr>
              <a:t>• All 6 parts are </a:t>
            </a:r>
            <a:r>
              <a:rPr sz="1800" b="1" i="0">
                <a:solidFill>
                  <a:srgbClr val="1F2937"/>
                </a:solidFill>
                <a:latin typeface="Calibri"/>
              </a:rPr>
              <a:t>equal</a:t>
            </a:r>
          </a:p>
          <a:p>
            <a:pPr algn="l"/>
            <a:r>
              <a:rPr sz="1800" b="0" i="0">
                <a:solidFill>
                  <a:srgbClr val="1F2937"/>
                </a:solidFill>
                <a:latin typeface="Calibri"/>
              </a:rPr>
              <a:t>• </a:t>
            </a:r>
            <a:r>
              <a:rPr sz="1800" b="1" i="0">
                <a:solidFill>
                  <a:srgbClr val="1F2937"/>
                </a:solidFill>
                <a:latin typeface="Calibri"/>
              </a:rPr>
              <a:t>Equivalent to 1/2!</a:t>
            </a:r>
            <a:r>
              <a:rPr sz="1800" b="0" i="0">
                <a:solidFill>
                  <a:srgbClr val="1F2937"/>
                </a:solidFill>
                <a:latin typeface="Calibri"/>
              </a:rPr>
              <a:t> ✅</a:t>
            </a:r>
          </a:p>
        </p:txBody>
      </p:sp>
      <p:sp>
        <p:nvSpPr>
          <p:cNvPr id="30" name="Rounded Rectangle 29"/>
          <p:cNvSpPr/>
          <p:nvPr/>
        </p:nvSpPr>
        <p:spPr>
          <a:xfrm>
            <a:off x="731520" y="4846320"/>
            <a:ext cx="10698480" cy="1463040"/>
          </a:xfrm>
          <a:prstGeom prst="roundRect">
            <a:avLst>
              <a:gd name="adj" fmla="val 8000"/>
            </a:avLst>
          </a:prstGeom>
          <a:solidFill>
            <a:srgbClr val="FEF3C7"/>
          </a:solidFill>
          <a:ln w="19050">
            <a:solidFill>
              <a:srgbClr val="FDE68A"/>
            </a:solidFill>
          </a:ln>
        </p:spPr>
        <p:txBody>
          <a:bodyPr rtlCol="0" anchor="ctr"/>
          <a:lstStyle/>
          <a:p>
            <a:pPr algn="ctr"/>
          </a:p>
        </p:txBody>
      </p:sp>
      <p:sp>
        <p:nvSpPr>
          <p:cNvPr id="31" name="TextBox 30"/>
          <p:cNvSpPr txBox="1"/>
          <p:nvPr/>
        </p:nvSpPr>
        <p:spPr>
          <a:xfrm>
            <a:off x="1005840" y="4937760"/>
            <a:ext cx="10149840" cy="1234440"/>
          </a:xfrm>
          <a:prstGeom prst="rect">
            <a:avLst/>
          </a:prstGeom>
          <a:noFill/>
        </p:spPr>
        <p:txBody>
          <a:bodyPr wrap="square" anchor="t">
            <a:noAutofit/>
          </a:bodyPr>
          <a:lstStyle/>
          <a:p>
            <a:pPr algn="l">
              <a:spcAft>
                <a:spcPts val="400"/>
              </a:spcAft>
            </a:pPr>
            <a:r>
              <a:rPr sz="1900" b="0" i="0">
                <a:solidFill>
                  <a:srgbClr val="1F2937"/>
                </a:solidFill>
                <a:latin typeface="Calibri"/>
              </a:rPr>
              <a:t>🚨 </a:t>
            </a:r>
            <a:r>
              <a:rPr sz="1900" b="1" i="0">
                <a:solidFill>
                  <a:srgbClr val="1F2937"/>
                </a:solidFill>
                <a:latin typeface="Calibri"/>
              </a:rPr>
              <a:t>Critical Misconception to Avoid:</a:t>
            </a:r>
          </a:p>
          <a:p>
            <a:pPr algn="l">
              <a:spcAft>
                <a:spcPts val="400"/>
              </a:spcAft>
            </a:pPr>
            <a:r>
              <a:rPr sz="1900" b="0" i="0">
                <a:solidFill>
                  <a:srgbClr val="1F2937"/>
                </a:solidFill>
                <a:latin typeface="Calibri"/>
              </a:rPr>
              <a:t>Just counting pieces is not enough! A fraction model is only valid if each piece is </a:t>
            </a:r>
            <a:r>
              <a:rPr sz="1900" b="1" i="0">
                <a:solidFill>
                  <a:srgbClr val="1F2937"/>
                </a:solidFill>
                <a:latin typeface="Calibri"/>
              </a:rPr>
              <a:t>exactly equal in size</a:t>
            </a:r>
            <a:r>
              <a:rPr sz="1900" b="0" i="0">
                <a:solidFill>
                  <a:srgbClr val="1F2937"/>
                </a:solidFill>
                <a:latin typeface="Calibri"/>
              </a:rPr>
              <a:t> [10].</a:t>
            </a:r>
          </a:p>
          <a:p>
            <a:pPr algn="l"/>
            <a:r>
              <a:rPr sz="1900" b="0" i="0">
                <a:solidFill>
                  <a:srgbClr val="1F2937"/>
                </a:solidFill>
                <a:latin typeface="Calibri"/>
              </a:rPr>
              <a:t>Model 2 is an imposter because the pieces are unequal.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365760"/>
            <a:ext cx="10698480" cy="731520"/>
          </a:xfrm>
        </p:spPr>
        <p:txBody>
          <a:bodyPr wrap="square" anchor="ctr">
            <a:noAutofit/>
          </a:bodyPr>
          <a:lstStyle/>
          <a:p>
            <a:pPr algn="l"/>
            <a:r>
              <a:rPr sz="3600" b="1" i="0">
                <a:solidFill>
                  <a:srgbClr val="1F2937"/>
                </a:solidFill>
                <a:latin typeface="Calibri"/>
              </a:rPr>
              <a:t>Partner Practice: Prove It with a Model</a:t>
            </a:r>
          </a:p>
        </p:txBody>
      </p:sp>
      <p:sp>
        <p:nvSpPr>
          <p:cNvPr id="3" name="Rounded Rectangle 2"/>
          <p:cNvSpPr/>
          <p:nvPr/>
        </p:nvSpPr>
        <p:spPr>
          <a:xfrm>
            <a:off x="731520" y="1188720"/>
            <a:ext cx="3291840" cy="502920"/>
          </a:xfrm>
          <a:prstGeom prst="roundRect">
            <a:avLst>
              <a:gd name="adj" fmla="val 50000"/>
            </a:avLst>
          </a:prstGeom>
          <a:solidFill>
            <a:srgbClr val="059669"/>
          </a:solidFill>
          <a:ln>
            <a:noFill/>
          </a:ln>
        </p:spPr>
        <p:txBody>
          <a:bodyPr rtlCol="0" anchor="ctr" wrap="square">
            <a:noAutofit/>
          </a:bodyPr>
          <a:lstStyle/>
          <a:p>
            <a:pPr algn="ctr"/>
            <a:r>
              <a:rPr sz="1800" b="1" i="0">
                <a:solidFill>
                  <a:srgbClr val="FFFFFF"/>
                </a:solidFill>
                <a:latin typeface="Calibri"/>
              </a:rPr>
              <a:t>YOU DO TOGETHER: PARTNER WORK</a:t>
            </a:r>
          </a:p>
        </p:txBody>
      </p:sp>
      <p:sp>
        <p:nvSpPr>
          <p:cNvPr id="4" name="Rounded Rectangle 3"/>
          <p:cNvSpPr/>
          <p:nvPr/>
        </p:nvSpPr>
        <p:spPr>
          <a:xfrm>
            <a:off x="731520" y="1737360"/>
            <a:ext cx="5303520" cy="4480560"/>
          </a:xfrm>
          <a:prstGeom prst="roundRect">
            <a:avLst>
              <a:gd name="adj" fmla="val 8000"/>
            </a:avLst>
          </a:prstGeom>
          <a:solidFill>
            <a:srgbClr val="FFFFFF"/>
          </a:solidFill>
          <a:ln w="19050">
            <a:solidFill>
              <a:srgbClr val="A7F3D0"/>
            </a:solidFill>
          </a:ln>
        </p:spPr>
        <p:txBody>
          <a:bodyPr rtlCol="0" anchor="ctr"/>
          <a:lstStyle/>
          <a:p>
            <a:pPr algn="ctr"/>
          </a:p>
        </p:txBody>
      </p:sp>
      <p:sp>
        <p:nvSpPr>
          <p:cNvPr id="5" name="TextBox 4"/>
          <p:cNvSpPr txBox="1"/>
          <p:nvPr/>
        </p:nvSpPr>
        <p:spPr>
          <a:xfrm>
            <a:off x="1005840" y="1920240"/>
            <a:ext cx="4754880" cy="411480"/>
          </a:xfrm>
          <a:prstGeom prst="rect">
            <a:avLst/>
          </a:prstGeom>
          <a:noFill/>
        </p:spPr>
        <p:txBody>
          <a:bodyPr wrap="square" anchor="t">
            <a:noAutofit/>
          </a:bodyPr>
          <a:lstStyle/>
          <a:p>
            <a:pPr algn="l"/>
            <a:r>
              <a:rPr sz="2400" b="1" i="0">
                <a:solidFill>
                  <a:srgbClr val="059669"/>
                </a:solidFill>
                <a:latin typeface="Calibri"/>
              </a:rPr>
              <a:t>👥 Partner Challenge</a:t>
            </a:r>
          </a:p>
        </p:txBody>
      </p:sp>
      <p:sp>
        <p:nvSpPr>
          <p:cNvPr id="6" name="TextBox 5"/>
          <p:cNvSpPr txBox="1"/>
          <p:nvPr/>
        </p:nvSpPr>
        <p:spPr>
          <a:xfrm>
            <a:off x="1005840" y="2468880"/>
            <a:ext cx="4754880" cy="1645920"/>
          </a:xfrm>
          <a:prstGeom prst="rect">
            <a:avLst/>
          </a:prstGeom>
          <a:noFill/>
        </p:spPr>
        <p:txBody>
          <a:bodyPr wrap="square" anchor="t">
            <a:noAutofit/>
          </a:bodyPr>
          <a:lstStyle/>
          <a:p>
            <a:pPr algn="l">
              <a:spcAft>
                <a:spcPts val="500"/>
              </a:spcAft>
            </a:pPr>
            <a:r>
              <a:rPr sz="2000" b="1" i="0">
                <a:solidFill>
                  <a:srgbClr val="1F2937"/>
                </a:solidFill>
                <a:latin typeface="Calibri"/>
              </a:rPr>
              <a:t>The Debate:</a:t>
            </a:r>
          </a:p>
          <a:p>
            <a:pPr algn="l">
              <a:spcAft>
                <a:spcPts val="500"/>
              </a:spcAft>
            </a:pPr>
            <a:r>
              <a:rPr sz="2000" b="0" i="0">
                <a:solidFill>
                  <a:srgbClr val="1F2937"/>
                </a:solidFill>
                <a:latin typeface="Calibri"/>
              </a:rPr>
              <a:t>Chloe says that </a:t>
            </a:r>
            <a:r>
              <a:rPr sz="2000" b="1" i="0">
                <a:solidFill>
                  <a:srgbClr val="1F2937"/>
                </a:solidFill>
                <a:latin typeface="Calibri"/>
              </a:rPr>
              <a:t>3/5</a:t>
            </a:r>
            <a:r>
              <a:rPr sz="2000" b="0" i="0">
                <a:solidFill>
                  <a:srgbClr val="1F2937"/>
                </a:solidFill>
                <a:latin typeface="Calibri"/>
              </a:rPr>
              <a:t> is equivalent to </a:t>
            </a:r>
            <a:r>
              <a:rPr sz="2000" b="1" i="0">
                <a:solidFill>
                  <a:srgbClr val="1F2937"/>
                </a:solidFill>
                <a:latin typeface="Calibri"/>
              </a:rPr>
              <a:t>6/10</a:t>
            </a:r>
            <a:r>
              <a:rPr sz="2000" b="0" i="0">
                <a:solidFill>
                  <a:srgbClr val="1F2937"/>
                </a:solidFill>
                <a:latin typeface="Calibri"/>
              </a:rPr>
              <a:t>.</a:t>
            </a:r>
          </a:p>
          <a:p>
            <a:pPr algn="l">
              <a:spcAft>
                <a:spcPts val="500"/>
              </a:spcAft>
            </a:pPr>
            <a:r>
              <a:rPr sz="2000" b="0" i="0">
                <a:solidFill>
                  <a:srgbClr val="1F2937"/>
                </a:solidFill>
                <a:latin typeface="Calibri"/>
              </a:rPr>
              <a:t>Marcus disagrees! He says: *"6/10 has to be bigger because 6 is more than 3, and 10 is more than 5!"*</a:t>
            </a:r>
          </a:p>
          <a:p>
            <a:pPr algn="l">
              <a:spcAft>
                <a:spcPts val="500"/>
              </a:spcAft>
            </a:pPr>
          </a:p>
          <a:p>
            <a:pPr algn="l">
              <a:spcAft>
                <a:spcPts val="500"/>
              </a:spcAft>
            </a:pPr>
            <a:r>
              <a:rPr sz="2000" b="1" i="0">
                <a:solidFill>
                  <a:srgbClr val="1F2937"/>
                </a:solidFill>
                <a:latin typeface="Calibri"/>
              </a:rPr>
              <a:t>Your Mission:</a:t>
            </a:r>
          </a:p>
          <a:p>
            <a:pPr algn="l">
              <a:spcAft>
                <a:spcPts val="500"/>
              </a:spcAft>
            </a:pPr>
            <a:r>
              <a:rPr sz="2000" b="0" i="0">
                <a:solidFill>
                  <a:srgbClr val="1F2937"/>
                </a:solidFill>
                <a:latin typeface="Calibri"/>
              </a:rPr>
              <a:t>1. Draw two fraction strips or number lines on your whiteboard to test their claims.</a:t>
            </a:r>
          </a:p>
          <a:p>
            <a:pPr algn="l"/>
            <a:r>
              <a:rPr sz="2000" b="0" i="0">
                <a:solidFill>
                  <a:srgbClr val="1F2937"/>
                </a:solidFill>
                <a:latin typeface="Calibri"/>
              </a:rPr>
              <a:t>2. Decide who is correct.</a:t>
            </a:r>
          </a:p>
        </p:txBody>
      </p:sp>
      <p:sp>
        <p:nvSpPr>
          <p:cNvPr id="7" name="Rounded Rectangle 6"/>
          <p:cNvSpPr/>
          <p:nvPr/>
        </p:nvSpPr>
        <p:spPr>
          <a:xfrm>
            <a:off x="1005840" y="5029200"/>
            <a:ext cx="4754880" cy="914400"/>
          </a:xfrm>
          <a:prstGeom prst="roundRect">
            <a:avLst>
              <a:gd name="adj" fmla="val 10000"/>
            </a:avLst>
          </a:prstGeom>
          <a:solidFill>
            <a:srgbClr val="ECFDF5"/>
          </a:solidFill>
          <a:ln>
            <a:noFill/>
          </a:ln>
        </p:spPr>
        <p:txBody>
          <a:bodyPr rtlCol="0" anchor="ctr" wrap="square">
            <a:noAutofit/>
          </a:bodyPr>
          <a:lstStyle/>
          <a:p>
            <a:pPr algn="ctr"/>
            <a:r>
              <a:rPr sz="1800" b="0" i="0">
                <a:solidFill>
                  <a:srgbClr val="059669"/>
                </a:solidFill>
                <a:latin typeface="Calibri"/>
              </a:rPr>
              <a:t>Hint: If you cut each fifth in half, how many tenths do you make?</a:t>
            </a:r>
          </a:p>
        </p:txBody>
      </p:sp>
      <p:sp>
        <p:nvSpPr>
          <p:cNvPr id="8" name="Rounded Rectangle 7"/>
          <p:cNvSpPr/>
          <p:nvPr/>
        </p:nvSpPr>
        <p:spPr>
          <a:xfrm>
            <a:off x="6309360" y="1737360"/>
            <a:ext cx="5120640" cy="4480560"/>
          </a:xfrm>
          <a:prstGeom prst="roundRect">
            <a:avLst>
              <a:gd name="adj" fmla="val 8000"/>
            </a:avLst>
          </a:prstGeom>
          <a:solidFill>
            <a:srgbClr val="EFF6FF"/>
          </a:solidFill>
          <a:ln w="19050">
            <a:solidFill>
              <a:srgbClr val="BFDBFE"/>
            </a:solidFill>
          </a:ln>
        </p:spPr>
        <p:txBody>
          <a:bodyPr rtlCol="0" anchor="ctr"/>
          <a:lstStyle/>
          <a:p>
            <a:pPr algn="ctr"/>
          </a:p>
        </p:txBody>
      </p:sp>
      <p:sp>
        <p:nvSpPr>
          <p:cNvPr id="9" name="TextBox 8"/>
          <p:cNvSpPr txBox="1"/>
          <p:nvPr/>
        </p:nvSpPr>
        <p:spPr>
          <a:xfrm>
            <a:off x="6583680" y="1920240"/>
            <a:ext cx="4572000" cy="411480"/>
          </a:xfrm>
          <a:prstGeom prst="rect">
            <a:avLst/>
          </a:prstGeom>
          <a:noFill/>
        </p:spPr>
        <p:txBody>
          <a:bodyPr wrap="square" anchor="t">
            <a:noAutofit/>
          </a:bodyPr>
          <a:lstStyle/>
          <a:p>
            <a:pPr algn="l"/>
            <a:r>
              <a:rPr sz="2400" b="1" i="0">
                <a:solidFill>
                  <a:srgbClr val="1D4ED8"/>
                </a:solidFill>
                <a:latin typeface="Calibri"/>
              </a:rPr>
              <a:t>🗣️ Math Talk Sentence Frames</a:t>
            </a:r>
          </a:p>
        </p:txBody>
      </p:sp>
      <p:sp>
        <p:nvSpPr>
          <p:cNvPr id="10" name="TextBox 9"/>
          <p:cNvSpPr txBox="1"/>
          <p:nvPr/>
        </p:nvSpPr>
        <p:spPr>
          <a:xfrm>
            <a:off x="6583680" y="2468880"/>
            <a:ext cx="4572000" cy="3474720"/>
          </a:xfrm>
          <a:prstGeom prst="rect">
            <a:avLst/>
          </a:prstGeom>
          <a:noFill/>
        </p:spPr>
        <p:txBody>
          <a:bodyPr wrap="square" anchor="t">
            <a:noAutofit/>
          </a:bodyPr>
          <a:lstStyle/>
          <a:p>
            <a:pPr algn="l">
              <a:spcAft>
                <a:spcPts val="600"/>
              </a:spcAft>
            </a:pPr>
            <a:r>
              <a:rPr sz="2000" b="0" i="0">
                <a:solidFill>
                  <a:srgbClr val="1F2937"/>
                </a:solidFill>
                <a:latin typeface="Calibri"/>
              </a:rPr>
              <a:t>Use these sentence starters with your partner:</a:t>
            </a:r>
          </a:p>
          <a:p>
            <a:pPr algn="l">
              <a:spcAft>
                <a:spcPts val="600"/>
              </a:spcAft>
            </a:pPr>
          </a:p>
          <a:p>
            <a:pPr algn="l">
              <a:spcAft>
                <a:spcPts val="600"/>
              </a:spcAft>
            </a:pPr>
            <a:r>
              <a:rPr sz="2000" b="0" i="0">
                <a:solidFill>
                  <a:srgbClr val="1F2937"/>
                </a:solidFill>
                <a:latin typeface="Calibri"/>
              </a:rPr>
              <a:t>• *"I agree with [Chloe / Marcus] because when I look at the model..."*</a:t>
            </a:r>
          </a:p>
          <a:p>
            <a:pPr algn="l">
              <a:spcAft>
                <a:spcPts val="600"/>
              </a:spcAft>
            </a:pPr>
          </a:p>
          <a:p>
            <a:pPr algn="l">
              <a:spcAft>
                <a:spcPts val="600"/>
              </a:spcAft>
            </a:pPr>
            <a:r>
              <a:rPr sz="2000" b="0" i="0">
                <a:solidFill>
                  <a:srgbClr val="1F2937"/>
                </a:solidFill>
                <a:latin typeface="Calibri"/>
              </a:rPr>
              <a:t>• *"Even though 6 and 10 are bigger digits, each tenth is ________ than each fifth."*</a:t>
            </a:r>
          </a:p>
          <a:p>
            <a:pPr algn="l">
              <a:spcAft>
                <a:spcPts val="600"/>
              </a:spcAft>
            </a:pPr>
          </a:p>
          <a:p>
            <a:pPr algn="l"/>
            <a:r>
              <a:rPr sz="2000" b="0" i="0">
                <a:solidFill>
                  <a:srgbClr val="1F2937"/>
                </a:solidFill>
                <a:latin typeface="Calibri"/>
              </a:rPr>
              <a:t>• *"3/5 and 6/10 are equivalent because they cover the exact same ________ of the whole."*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365760"/>
            <a:ext cx="10698480" cy="731520"/>
          </a:xfrm>
        </p:spPr>
        <p:txBody>
          <a:bodyPr wrap="square" anchor="ctr">
            <a:noAutofit/>
          </a:bodyPr>
          <a:lstStyle/>
          <a:p>
            <a:pPr algn="l"/>
            <a:r>
              <a:rPr sz="3600" b="1" i="0">
                <a:solidFill>
                  <a:srgbClr val="1F2937"/>
                </a:solidFill>
                <a:latin typeface="Calibri"/>
              </a:rPr>
              <a:t>Exit Ticket: Show What You Know</a:t>
            </a:r>
          </a:p>
        </p:txBody>
      </p:sp>
      <p:sp>
        <p:nvSpPr>
          <p:cNvPr id="3" name="Rounded Rectangle 2"/>
          <p:cNvSpPr/>
          <p:nvPr/>
        </p:nvSpPr>
        <p:spPr>
          <a:xfrm>
            <a:off x="731520" y="1188720"/>
            <a:ext cx="2377440" cy="502920"/>
          </a:xfrm>
          <a:prstGeom prst="roundRect">
            <a:avLst>
              <a:gd name="adj" fmla="val 50000"/>
            </a:avLst>
          </a:prstGeom>
          <a:solidFill>
            <a:srgbClr val="0F294A"/>
          </a:solidFill>
          <a:ln>
            <a:noFill/>
          </a:ln>
        </p:spPr>
        <p:txBody>
          <a:bodyPr rtlCol="0" anchor="ctr" wrap="square">
            <a:noAutofit/>
          </a:bodyPr>
          <a:lstStyle/>
          <a:p>
            <a:pPr algn="ctr"/>
            <a:r>
              <a:rPr sz="1800" b="1" i="0">
                <a:solidFill>
                  <a:srgbClr val="FFFFFF"/>
                </a:solidFill>
                <a:latin typeface="Calibri"/>
              </a:rPr>
              <a:t>YOU DO: EXIT TICKET</a:t>
            </a:r>
          </a:p>
        </p:txBody>
      </p:sp>
      <p:sp>
        <p:nvSpPr>
          <p:cNvPr id="4" name="Rounded Rectangle 3"/>
          <p:cNvSpPr/>
          <p:nvPr/>
        </p:nvSpPr>
        <p:spPr>
          <a:xfrm>
            <a:off x="731520" y="1737360"/>
            <a:ext cx="5120640" cy="365760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5" name="Rounded Rectangle 4"/>
          <p:cNvSpPr/>
          <p:nvPr/>
        </p:nvSpPr>
        <p:spPr>
          <a:xfrm>
            <a:off x="914400" y="1874519"/>
            <a:ext cx="1645920" cy="365760"/>
          </a:xfrm>
          <a:prstGeom prst="roundRect">
            <a:avLst>
              <a:gd name="adj" fmla="val 10000"/>
            </a:avLst>
          </a:prstGeom>
          <a:solidFill>
            <a:srgbClr val="1D4ED8"/>
          </a:solidFill>
          <a:ln>
            <a:noFill/>
          </a:ln>
        </p:spPr>
        <p:txBody>
          <a:bodyPr rtlCol="0" anchor="ctr" wrap="square">
            <a:noAutofit/>
          </a:bodyPr>
          <a:lstStyle/>
          <a:p>
            <a:pPr algn="ctr"/>
            <a:r>
              <a:rPr sz="1800" b="1" i="0">
                <a:solidFill>
                  <a:srgbClr val="FFFFFF"/>
                </a:solidFill>
                <a:latin typeface="Calibri"/>
              </a:rPr>
              <a:t>Question 1</a:t>
            </a:r>
          </a:p>
        </p:txBody>
      </p:sp>
      <p:sp>
        <p:nvSpPr>
          <p:cNvPr id="6" name="TextBox 5"/>
          <p:cNvSpPr txBox="1"/>
          <p:nvPr/>
        </p:nvSpPr>
        <p:spPr>
          <a:xfrm>
            <a:off x="914400" y="2377440"/>
            <a:ext cx="4754880" cy="731520"/>
          </a:xfrm>
          <a:prstGeom prst="rect">
            <a:avLst/>
          </a:prstGeom>
          <a:noFill/>
        </p:spPr>
        <p:txBody>
          <a:bodyPr wrap="square" anchor="t">
            <a:noAutofit/>
          </a:bodyPr>
          <a:lstStyle/>
          <a:p>
            <a:pPr algn="l"/>
            <a:r>
              <a:rPr sz="2000" b="1" i="0">
                <a:solidFill>
                  <a:srgbClr val="1F2937"/>
                </a:solidFill>
                <a:latin typeface="Calibri"/>
              </a:rPr>
              <a:t>Which fraction is </a:t>
            </a:r>
            <a:r>
              <a:rPr sz="2000" b="1" i="0">
                <a:solidFill>
                  <a:srgbClr val="1F2937"/>
                </a:solidFill>
                <a:latin typeface="Calibri"/>
              </a:rPr>
              <a:t>equivalent</a:t>
            </a:r>
            <a:r>
              <a:rPr sz="2000" b="1" i="0">
                <a:solidFill>
                  <a:srgbClr val="1F2937"/>
                </a:solidFill>
                <a:latin typeface="Calibri"/>
              </a:rPr>
              <a:t> to the shaded model below?</a:t>
            </a:r>
          </a:p>
        </p:txBody>
      </p:sp>
      <p:sp>
        <p:nvSpPr>
          <p:cNvPr id="7" name="Rectangle 6"/>
          <p:cNvSpPr/>
          <p:nvPr/>
        </p:nvSpPr>
        <p:spPr>
          <a:xfrm>
            <a:off x="914400" y="3108960"/>
            <a:ext cx="4114800" cy="594360"/>
          </a:xfrm>
          <a:prstGeom prst="rect">
            <a:avLst/>
          </a:prstGeom>
          <a:solidFill>
            <a:srgbClr val="FFFFFF"/>
          </a:solidFill>
          <a:ln w="25400">
            <a:solidFill>
              <a:srgbClr val="0F294A"/>
            </a:solidFill>
          </a:ln>
        </p:spPr>
        <p:txBody>
          <a:bodyPr rtlCol="0" anchor="ctr"/>
          <a:lstStyle/>
          <a:p>
            <a:pPr algn="ctr"/>
          </a:p>
        </p:txBody>
      </p:sp>
      <p:sp>
        <p:nvSpPr>
          <p:cNvPr id="8" name="Rectangle 7"/>
          <p:cNvSpPr/>
          <p:nvPr/>
        </p:nvSpPr>
        <p:spPr>
          <a:xfrm>
            <a:off x="914400" y="3108960"/>
            <a:ext cx="1371600" cy="594360"/>
          </a:xfrm>
          <a:prstGeom prst="rect">
            <a:avLst/>
          </a:prstGeom>
          <a:solidFill>
            <a:srgbClr val="1D4ED8"/>
          </a:solidFill>
          <a:ln w="25400">
            <a:solidFill>
              <a:srgbClr val="0F294A"/>
            </a:solidFill>
          </a:ln>
        </p:spPr>
        <p:txBody>
          <a:bodyPr rtlCol="0" anchor="ctr"/>
          <a:lstStyle/>
          <a:p>
            <a:pPr algn="ctr"/>
          </a:p>
        </p:txBody>
      </p:sp>
      <p:cxnSp>
        <p:nvCxnSpPr>
          <p:cNvPr id="9" name="Connector 8"/>
          <p:cNvCxnSpPr/>
          <p:nvPr/>
        </p:nvCxnSpPr>
        <p:spPr>
          <a:xfrm>
            <a:off x="2286000" y="3108960"/>
            <a:ext cx="0" cy="59436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657600" y="3108960"/>
            <a:ext cx="0" cy="594360"/>
          </a:xfrm>
          <a:prstGeom prst="line">
            <a:avLst/>
          </a:prstGeom>
          <a:ln w="19050">
            <a:solidFill>
              <a:srgbClr val="0F294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166360" y="3108960"/>
            <a:ext cx="1645920" cy="594360"/>
          </a:xfrm>
          <a:prstGeom prst="rect">
            <a:avLst/>
          </a:prstGeom>
          <a:noFill/>
        </p:spPr>
        <p:txBody>
          <a:bodyPr wrap="square" anchor="ctr">
            <a:noAutofit/>
          </a:bodyPr>
          <a:lstStyle/>
          <a:p>
            <a:pPr algn="l"/>
            <a:r>
              <a:rPr sz="2000" b="1" i="0">
                <a:solidFill>
                  <a:srgbClr val="1F2937"/>
                </a:solidFill>
                <a:latin typeface="Calibri"/>
              </a:rPr>
              <a:t>1/3</a:t>
            </a:r>
          </a:p>
        </p:txBody>
      </p:sp>
      <p:sp>
        <p:nvSpPr>
          <p:cNvPr id="12" name="Rounded Rectangle 11"/>
          <p:cNvSpPr/>
          <p:nvPr/>
        </p:nvSpPr>
        <p:spPr>
          <a:xfrm>
            <a:off x="914400" y="3931920"/>
            <a:ext cx="2194560" cy="502920"/>
          </a:xfrm>
          <a:prstGeom prst="roundRect">
            <a:avLst>
              <a:gd name="adj" fmla="val 10000"/>
            </a:avLst>
          </a:prstGeom>
          <a:solidFill>
            <a:srgbClr val="F1F5F9"/>
          </a:solidFill>
          <a:ln>
            <a:noFill/>
          </a:ln>
        </p:spPr>
        <p:txBody>
          <a:bodyPr rtlCol="0" anchor="ctr" wrap="square">
            <a:noAutofit/>
          </a:bodyPr>
          <a:lstStyle/>
          <a:p>
            <a:pPr algn="l"/>
            <a:r>
              <a:rPr sz="1900" b="0" i="0">
                <a:solidFill>
                  <a:srgbClr val="1F2937"/>
                </a:solidFill>
                <a:latin typeface="Calibri"/>
              </a:rPr>
              <a:t>A) 2/5</a:t>
            </a:r>
          </a:p>
        </p:txBody>
      </p:sp>
      <p:sp>
        <p:nvSpPr>
          <p:cNvPr id="13" name="Rounded Rectangle 12"/>
          <p:cNvSpPr/>
          <p:nvPr/>
        </p:nvSpPr>
        <p:spPr>
          <a:xfrm>
            <a:off x="3291840" y="3931920"/>
            <a:ext cx="2194560" cy="502920"/>
          </a:xfrm>
          <a:prstGeom prst="roundRect">
            <a:avLst>
              <a:gd name="adj" fmla="val 10000"/>
            </a:avLst>
          </a:prstGeom>
          <a:solidFill>
            <a:srgbClr val="F1F5F9"/>
          </a:solidFill>
          <a:ln>
            <a:noFill/>
          </a:ln>
        </p:spPr>
        <p:txBody>
          <a:bodyPr rtlCol="0" anchor="ctr" wrap="square">
            <a:noAutofit/>
          </a:bodyPr>
          <a:lstStyle/>
          <a:p>
            <a:pPr algn="l"/>
            <a:r>
              <a:rPr sz="1900" b="0" i="0">
                <a:solidFill>
                  <a:srgbClr val="1F2937"/>
                </a:solidFill>
                <a:latin typeface="Calibri"/>
              </a:rPr>
              <a:t>B) 2/6</a:t>
            </a:r>
          </a:p>
        </p:txBody>
      </p:sp>
      <p:sp>
        <p:nvSpPr>
          <p:cNvPr id="14" name="Rounded Rectangle 13"/>
          <p:cNvSpPr/>
          <p:nvPr/>
        </p:nvSpPr>
        <p:spPr>
          <a:xfrm>
            <a:off x="914400" y="4572000"/>
            <a:ext cx="2194560" cy="502920"/>
          </a:xfrm>
          <a:prstGeom prst="roundRect">
            <a:avLst>
              <a:gd name="adj" fmla="val 10000"/>
            </a:avLst>
          </a:prstGeom>
          <a:solidFill>
            <a:srgbClr val="F1F5F9"/>
          </a:solidFill>
          <a:ln>
            <a:noFill/>
          </a:ln>
        </p:spPr>
        <p:txBody>
          <a:bodyPr rtlCol="0" anchor="ctr" wrap="square">
            <a:noAutofit/>
          </a:bodyPr>
          <a:lstStyle/>
          <a:p>
            <a:pPr algn="l"/>
            <a:r>
              <a:rPr sz="1900" b="0" i="0">
                <a:solidFill>
                  <a:srgbClr val="1F2937"/>
                </a:solidFill>
                <a:latin typeface="Calibri"/>
              </a:rPr>
              <a:t>C) 1/6</a:t>
            </a:r>
          </a:p>
        </p:txBody>
      </p:sp>
      <p:sp>
        <p:nvSpPr>
          <p:cNvPr id="15" name="Rounded Rectangle 14"/>
          <p:cNvSpPr/>
          <p:nvPr/>
        </p:nvSpPr>
        <p:spPr>
          <a:xfrm>
            <a:off x="3291840" y="4572000"/>
            <a:ext cx="2194560" cy="502920"/>
          </a:xfrm>
          <a:prstGeom prst="roundRect">
            <a:avLst>
              <a:gd name="adj" fmla="val 10000"/>
            </a:avLst>
          </a:prstGeom>
          <a:solidFill>
            <a:srgbClr val="F1F5F9"/>
          </a:solidFill>
          <a:ln>
            <a:noFill/>
          </a:ln>
        </p:spPr>
        <p:txBody>
          <a:bodyPr rtlCol="0" anchor="ctr" wrap="square">
            <a:noAutofit/>
          </a:bodyPr>
          <a:lstStyle/>
          <a:p>
            <a:pPr algn="l"/>
            <a:r>
              <a:rPr sz="1900" b="0" i="0">
                <a:solidFill>
                  <a:srgbClr val="1F2937"/>
                </a:solidFill>
                <a:latin typeface="Calibri"/>
              </a:rPr>
              <a:t>D) 3/6</a:t>
            </a:r>
          </a:p>
        </p:txBody>
      </p:sp>
      <p:sp>
        <p:nvSpPr>
          <p:cNvPr id="16" name="Rounded Rectangle 15"/>
          <p:cNvSpPr/>
          <p:nvPr/>
        </p:nvSpPr>
        <p:spPr>
          <a:xfrm>
            <a:off x="6217920" y="1737360"/>
            <a:ext cx="5212080" cy="3657600"/>
          </a:xfrm>
          <a:prstGeom prst="roundRect">
            <a:avLst>
              <a:gd name="adj" fmla="val 8000"/>
            </a:avLst>
          </a:prstGeom>
          <a:solidFill>
            <a:srgbClr val="FFFFFF"/>
          </a:solidFill>
          <a:ln w="19050">
            <a:solidFill>
              <a:srgbClr val="BFDBFE"/>
            </a:solidFill>
          </a:ln>
        </p:spPr>
        <p:txBody>
          <a:bodyPr rtlCol="0" anchor="ctr"/>
          <a:lstStyle/>
          <a:p>
            <a:pPr algn="ctr"/>
          </a:p>
        </p:txBody>
      </p:sp>
      <p:sp>
        <p:nvSpPr>
          <p:cNvPr id="17" name="Rounded Rectangle 16"/>
          <p:cNvSpPr/>
          <p:nvPr/>
        </p:nvSpPr>
        <p:spPr>
          <a:xfrm>
            <a:off x="6400800" y="1874519"/>
            <a:ext cx="1645920" cy="365760"/>
          </a:xfrm>
          <a:prstGeom prst="roundRect">
            <a:avLst>
              <a:gd name="adj" fmla="val 10000"/>
            </a:avLst>
          </a:prstGeom>
          <a:solidFill>
            <a:srgbClr val="1D4ED8"/>
          </a:solidFill>
          <a:ln>
            <a:noFill/>
          </a:ln>
        </p:spPr>
        <p:txBody>
          <a:bodyPr rtlCol="0" anchor="ctr" wrap="square">
            <a:noAutofit/>
          </a:bodyPr>
          <a:lstStyle/>
          <a:p>
            <a:pPr algn="ctr"/>
            <a:r>
              <a:rPr sz="1800" b="1" i="0">
                <a:solidFill>
                  <a:srgbClr val="FFFFFF"/>
                </a:solidFill>
                <a:latin typeface="Calibri"/>
              </a:rPr>
              <a:t>Question 2</a:t>
            </a:r>
          </a:p>
        </p:txBody>
      </p:sp>
      <p:sp>
        <p:nvSpPr>
          <p:cNvPr id="18" name="TextBox 17"/>
          <p:cNvSpPr txBox="1"/>
          <p:nvPr/>
        </p:nvSpPr>
        <p:spPr>
          <a:xfrm>
            <a:off x="6400800" y="2377440"/>
            <a:ext cx="4846320" cy="731520"/>
          </a:xfrm>
          <a:prstGeom prst="rect">
            <a:avLst/>
          </a:prstGeom>
          <a:noFill/>
        </p:spPr>
        <p:txBody>
          <a:bodyPr wrap="square" anchor="t">
            <a:noAutofit/>
          </a:bodyPr>
          <a:lstStyle/>
          <a:p>
            <a:pPr algn="l"/>
            <a:r>
              <a:rPr sz="2000" b="1" i="0">
                <a:solidFill>
                  <a:srgbClr val="1F2937"/>
                </a:solidFill>
                <a:latin typeface="Calibri"/>
              </a:rPr>
              <a:t>On your index card, answer:</a:t>
            </a:r>
          </a:p>
        </p:txBody>
      </p:sp>
      <p:sp>
        <p:nvSpPr>
          <p:cNvPr id="19" name="TextBox 18"/>
          <p:cNvSpPr txBox="1"/>
          <p:nvPr/>
        </p:nvSpPr>
        <p:spPr>
          <a:xfrm>
            <a:off x="6400800" y="3108960"/>
            <a:ext cx="4846320" cy="2011680"/>
          </a:xfrm>
          <a:prstGeom prst="rect">
            <a:avLst/>
          </a:prstGeom>
          <a:noFill/>
        </p:spPr>
        <p:txBody>
          <a:bodyPr wrap="square" anchor="t">
            <a:noAutofit/>
          </a:bodyPr>
          <a:lstStyle/>
          <a:p>
            <a:pPr algn="l" marL="274320" indent="-274320">
              <a:spcAft>
                <a:spcPts val="400"/>
              </a:spcAft>
              <a:buFont typeface="Arial"/>
              <a:buChar char="•"/>
            </a:pPr>
            <a:r>
              <a:rPr sz="1800" b="0" i="0">
                <a:solidFill>
                  <a:srgbClr val="1F2937"/>
                </a:solidFill>
                <a:latin typeface="Calibri"/>
              </a:rPr>
              <a:t>Draw an area model partitioned into </a:t>
            </a:r>
            <a:r>
              <a:rPr sz="1800" b="1" i="0">
                <a:solidFill>
                  <a:srgbClr val="1F2937"/>
                </a:solidFill>
                <a:latin typeface="Calibri"/>
              </a:rPr>
              <a:t>4 parts</a:t>
            </a:r>
            <a:r>
              <a:rPr sz="1800" b="0" i="0">
                <a:solidFill>
                  <a:srgbClr val="1F2937"/>
                </a:solidFill>
                <a:latin typeface="Calibri"/>
              </a:rPr>
              <a:t> with </a:t>
            </a:r>
            <a:r>
              <a:rPr sz="1800" b="1" i="0">
                <a:solidFill>
                  <a:srgbClr val="1F2937"/>
                </a:solidFill>
                <a:latin typeface="Calibri"/>
              </a:rPr>
              <a:t>2 parts shaded</a:t>
            </a:r>
            <a:r>
              <a:rPr sz="1800" b="0" i="0">
                <a:solidFill>
                  <a:srgbClr val="1F2937"/>
                </a:solidFill>
                <a:latin typeface="Calibri"/>
              </a:rPr>
              <a:t> (2/4).</a:t>
            </a:r>
          </a:p>
          <a:p>
            <a:pPr algn="l" marL="274320" indent="-274320">
              <a:spcAft>
                <a:spcPts val="400"/>
              </a:spcAft>
              <a:buFont typeface="Arial"/>
              <a:buChar char="•"/>
            </a:pPr>
            <a:r>
              <a:rPr sz="1800" b="0" i="0">
                <a:solidFill>
                  <a:srgbClr val="1F2937"/>
                </a:solidFill>
                <a:latin typeface="Calibri"/>
              </a:rPr>
              <a:t>Draw a horizontal line across your model to subdivide it into </a:t>
            </a:r>
            <a:r>
              <a:rPr sz="1800" b="1" i="0">
                <a:solidFill>
                  <a:srgbClr val="1F2937"/>
                </a:solidFill>
                <a:latin typeface="Calibri"/>
              </a:rPr>
              <a:t>eighths</a:t>
            </a:r>
            <a:r>
              <a:rPr sz="1800" b="0" i="0">
                <a:solidFill>
                  <a:srgbClr val="1F2937"/>
                </a:solidFill>
                <a:latin typeface="Calibri"/>
              </a:rPr>
              <a:t>.</a:t>
            </a:r>
          </a:p>
          <a:p>
            <a:pPr algn="l" marL="274320" indent="-274320">
              <a:spcAft>
                <a:spcPts val="400"/>
              </a:spcAft>
              <a:buFont typeface="Arial"/>
              <a:buChar char="•"/>
            </a:pPr>
            <a:r>
              <a:rPr sz="1800" b="0" i="0">
                <a:solidFill>
                  <a:srgbClr val="1F2937"/>
                </a:solidFill>
                <a:latin typeface="Calibri"/>
              </a:rPr>
              <a:t>What fraction does your model show now?</a:t>
            </a:r>
          </a:p>
          <a:p>
            <a:pPr algn="l" marL="274320" indent="-274320">
              <a:buFont typeface="Arial"/>
              <a:buChar char="•"/>
            </a:pPr>
            <a:r>
              <a:rPr sz="1800" b="0" i="0">
                <a:solidFill>
                  <a:srgbClr val="1F2937"/>
                </a:solidFill>
                <a:latin typeface="Calibri"/>
              </a:rPr>
              <a:t>Write 1 sentence explaining why they are equal.</a:t>
            </a:r>
          </a:p>
        </p:txBody>
      </p:sp>
      <p:sp>
        <p:nvSpPr>
          <p:cNvPr id="20" name="Rounded Rectangle 19"/>
          <p:cNvSpPr/>
          <p:nvPr/>
        </p:nvSpPr>
        <p:spPr>
          <a:xfrm>
            <a:off x="731520" y="5577840"/>
            <a:ext cx="10698480" cy="731520"/>
          </a:xfrm>
          <a:prstGeom prst="roundRect">
            <a:avLst>
              <a:gd name="adj" fmla="val 8000"/>
            </a:avLst>
          </a:prstGeom>
          <a:solidFill>
            <a:srgbClr val="EFF6FF"/>
          </a:solidFill>
          <a:ln w="19050">
            <a:solidFill>
              <a:srgbClr val="BFDBFE"/>
            </a:solidFill>
          </a:ln>
        </p:spPr>
        <p:txBody>
          <a:bodyPr rtlCol="0" anchor="ctr"/>
          <a:lstStyle/>
          <a:p>
            <a:pPr algn="ctr"/>
          </a:p>
        </p:txBody>
      </p:sp>
      <p:sp>
        <p:nvSpPr>
          <p:cNvPr id="21" name="TextBox 20"/>
          <p:cNvSpPr txBox="1"/>
          <p:nvPr/>
        </p:nvSpPr>
        <p:spPr>
          <a:xfrm>
            <a:off x="1005840" y="5669280"/>
            <a:ext cx="10149840" cy="502920"/>
          </a:xfrm>
          <a:prstGeom prst="rect">
            <a:avLst/>
          </a:prstGeom>
          <a:noFill/>
        </p:spPr>
        <p:txBody>
          <a:bodyPr wrap="square" anchor="t">
            <a:noAutofit/>
          </a:bodyPr>
          <a:lstStyle/>
          <a:p>
            <a:pPr algn="l"/>
            <a:r>
              <a:rPr sz="1800" b="1" i="0">
                <a:solidFill>
                  <a:srgbClr val="0F294A"/>
                </a:solidFill>
                <a:latin typeface="Calibri"/>
              </a:rPr>
              <a:t>💡 </a:t>
            </a:r>
            <a:r>
              <a:rPr sz="1800" b="1" i="0">
                <a:solidFill>
                  <a:srgbClr val="0F294A"/>
                </a:solidFill>
                <a:latin typeface="Calibri"/>
              </a:rPr>
              <a:t>Success Criteria:</a:t>
            </a:r>
            <a:r>
              <a:rPr sz="1800" b="1" i="0">
                <a:solidFill>
                  <a:srgbClr val="0F294A"/>
                </a:solidFill>
                <a:latin typeface="Calibri"/>
              </a:rPr>
              <a:t> Correct answer (B) for Q1; model showing 4/8 with equal parts and explanation for Q2.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365760"/>
            <a:ext cx="10698480" cy="731520"/>
          </a:xfrm>
        </p:spPr>
        <p:txBody>
          <a:bodyPr wrap="square" anchor="ctr">
            <a:noAutofit/>
          </a:bodyPr>
          <a:lstStyle/>
          <a:p>
            <a:pPr algn="l"/>
            <a:r>
              <a:rPr sz="3600" b="1" i="0">
                <a:solidFill>
                  <a:srgbClr val="1F2937"/>
                </a:solidFill>
                <a:latin typeface="Calibri"/>
              </a:rPr>
              <a:t>Sources &amp; Alignment</a:t>
            </a:r>
          </a:p>
        </p:txBody>
      </p:sp>
      <p:sp>
        <p:nvSpPr>
          <p:cNvPr id="3" name="TextBox 2"/>
          <p:cNvSpPr txBox="1"/>
          <p:nvPr/>
        </p:nvSpPr>
        <p:spPr>
          <a:xfrm>
            <a:off x="731520" y="1463040"/>
            <a:ext cx="10698480" cy="4754880"/>
          </a:xfrm>
          <a:prstGeom prst="rect">
            <a:avLst/>
          </a:prstGeom>
          <a:noFill/>
        </p:spPr>
        <p:txBody>
          <a:bodyPr wrap="square" anchor="t">
            <a:noAutofit/>
          </a:bodyPr>
          <a:lstStyle/>
          <a:p>
            <a:pPr algn="l">
              <a:spcAft>
                <a:spcPts val="500"/>
              </a:spcAft>
            </a:pPr>
            <a:r>
              <a:rPr sz="1500" b="1" i="0">
                <a:solidFill>
                  <a:srgbClr val="1F2937"/>
                </a:solidFill>
                <a:latin typeface="Calibri"/>
              </a:rPr>
              <a:t>Curriculum Standards Alignment:</a:t>
            </a:r>
          </a:p>
          <a:p>
            <a:pPr algn="l">
              <a:spcAft>
                <a:spcPts val="500"/>
              </a:spcAft>
            </a:pPr>
            <a:r>
              <a:rPr sz="1500" b="0" i="0">
                <a:solidFill>
                  <a:srgbClr val="1F2937"/>
                </a:solidFill>
                <a:latin typeface="Calibri"/>
              </a:rPr>
              <a:t>• </a:t>
            </a:r>
            <a:r>
              <a:rPr sz="1500" b="1" i="0">
                <a:solidFill>
                  <a:srgbClr val="1F2937"/>
                </a:solidFill>
                <a:latin typeface="Calibri"/>
              </a:rPr>
              <a:t>CCSS.MATH.CONTENT.4.NF.A.1:</a:t>
            </a:r>
            <a:r>
              <a:rPr sz="1500" b="0" i="0">
                <a:solidFill>
                  <a:srgbClr val="1F2937"/>
                </a:solidFill>
                <a:latin typeface="Calibri"/>
              </a:rPr>
              <a:t> Explain why a fraction a/b is equivalent to a fraction (n × a)/(n × b) by using visual fraction models, with attention to how the number and size of the parts differ even though the two fractions themselves are the same size. Use this principle to recognize and generate equivalent fractions [1].</a:t>
            </a:r>
          </a:p>
          <a:p>
            <a:pPr algn="l">
              <a:spcAft>
                <a:spcPts val="500"/>
              </a:spcAft>
            </a:pPr>
            <a:r>
              <a:rPr sz="1500" b="0" i="0">
                <a:solidFill>
                  <a:srgbClr val="1F2937"/>
                </a:solidFill>
                <a:latin typeface="Calibri"/>
              </a:rPr>
              <a:t>• </a:t>
            </a:r>
            <a:r>
              <a:rPr sz="1500" b="1" i="0">
                <a:solidFill>
                  <a:srgbClr val="1F2937"/>
                </a:solidFill>
                <a:latin typeface="Calibri"/>
              </a:rPr>
              <a:t>CCSS.MATH.CONTENT.4.NF.A.2:</a:t>
            </a:r>
            <a:r>
              <a:rPr sz="1500" b="0" i="0">
                <a:solidFill>
                  <a:srgbClr val="1F2937"/>
                </a:solidFill>
                <a:latin typeface="Calibri"/>
              </a:rPr>
              <a:t> Recognize that comparisons are valid only when the two fractions refer to the same whole [4], [7].</a:t>
            </a:r>
          </a:p>
          <a:p>
            <a:pPr algn="l">
              <a:spcAft>
                <a:spcPts val="500"/>
              </a:spcAft>
            </a:pPr>
          </a:p>
          <a:p>
            <a:pPr algn="l">
              <a:spcAft>
                <a:spcPts val="500"/>
              </a:spcAft>
            </a:pPr>
            <a:r>
              <a:rPr sz="1500" b="1" i="0">
                <a:solidFill>
                  <a:srgbClr val="1F2937"/>
                </a:solidFill>
                <a:latin typeface="Calibri"/>
              </a:rPr>
              <a:t>References &amp; Pedagogical Sources:</a:t>
            </a:r>
          </a:p>
          <a:p>
            <a:pPr algn="l">
              <a:spcAft>
                <a:spcPts val="500"/>
              </a:spcAft>
            </a:pPr>
            <a:r>
              <a:rPr sz="1500" b="0" i="0">
                <a:solidFill>
                  <a:srgbClr val="1F2937"/>
                </a:solidFill>
                <a:latin typeface="Calibri"/>
              </a:rPr>
              <a:t>[1] Common Core State Standards Initiative, "Grade 4 Number &amp; Operations—Fractions," corestandards.org / classace.io</a:t>
            </a:r>
          </a:p>
          <a:p>
            <a:pPr algn="l">
              <a:spcAft>
                <a:spcPts val="500"/>
              </a:spcAft>
            </a:pPr>
            <a:r>
              <a:rPr sz="1500" b="0" i="0">
                <a:solidFill>
                  <a:srgbClr val="1F2937"/>
                </a:solidFill>
                <a:latin typeface="Calibri"/>
              </a:rPr>
              <a:t>[4] IXL Learning, "Common Core Fourth-Grade Math Standards: 4.NF.A.1 &amp; 4.NF.A.2," ixl.com</a:t>
            </a:r>
          </a:p>
          <a:p>
            <a:pPr algn="l">
              <a:spcAft>
                <a:spcPts val="500"/>
              </a:spcAft>
            </a:pPr>
            <a:r>
              <a:rPr sz="1500" b="0" i="0">
                <a:solidFill>
                  <a:srgbClr val="1F2937"/>
                </a:solidFill>
                <a:latin typeface="Calibri"/>
              </a:rPr>
              <a:t>[6] Achieve the Core / NWEA, "Assessment Item Illustrating 4.NF.A.1: Fraction Equivalence Progressions," achievethecore.org</a:t>
            </a:r>
          </a:p>
          <a:p>
            <a:pPr algn="l">
              <a:spcAft>
                <a:spcPts val="500"/>
              </a:spcAft>
            </a:pPr>
            <a:r>
              <a:rPr sz="1500" b="0" i="0">
                <a:solidFill>
                  <a:srgbClr val="1F2937"/>
                </a:solidFill>
                <a:latin typeface="Calibri"/>
              </a:rPr>
              <a:t>[7] Connecticut State Department of Education / GoOpen CT, "Grade 4 Unit 4: Fraction Equivalence &amp; Comparison," goopenct.org</a:t>
            </a:r>
          </a:p>
          <a:p>
            <a:pPr algn="l"/>
            <a:r>
              <a:rPr sz="1500" b="0" i="0">
                <a:solidFill>
                  <a:srgbClr val="1F2937"/>
                </a:solidFill>
                <a:latin typeface="Calibri"/>
              </a:rPr>
              <a:t>[10] Lesson Maker Pro / Common Core Math, "CCSS 4.NF.A.1 Explained, Lesson Ideas &amp; Misconceptions," lessonmakerpro.com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